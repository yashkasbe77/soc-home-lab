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2"/>
  </p:notesMasterIdLst>
  <p:sldIdLst>
    <p:sldId id="256" r:id="rId2"/>
    <p:sldId id="731" r:id="rId3"/>
    <p:sldId id="674" r:id="rId4"/>
    <p:sldId id="715" r:id="rId5"/>
    <p:sldId id="718" r:id="rId6"/>
    <p:sldId id="713" r:id="rId7"/>
    <p:sldId id="719" r:id="rId8"/>
    <p:sldId id="720" r:id="rId9"/>
    <p:sldId id="721" r:id="rId10"/>
    <p:sldId id="722" r:id="rId11"/>
    <p:sldId id="723" r:id="rId12"/>
    <p:sldId id="724" r:id="rId13"/>
    <p:sldId id="725" r:id="rId14"/>
    <p:sldId id="726" r:id="rId15"/>
    <p:sldId id="727" r:id="rId16"/>
    <p:sldId id="728" r:id="rId17"/>
    <p:sldId id="729" r:id="rId18"/>
    <p:sldId id="730" r:id="rId19"/>
    <p:sldId id="711" r:id="rId20"/>
    <p:sldId id="30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83" d="100"/>
          <a:sy n="83" d="100"/>
        </p:scale>
        <p:origin x="581" y="67"/>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04-04-2026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400" b="1" dirty="0">
              <a:latin typeface="Calibri" panose="020F0502020204030204" pitchFamily="34" charset="0"/>
            </a:endParaRPr>
          </a:p>
        </p:txBody>
      </p:sp>
      <p:sp>
        <p:nvSpPr>
          <p:cNvPr id="4" name="TextBox 3">
            <a:extLst>
              <a:ext uri="{FF2B5EF4-FFF2-40B4-BE49-F238E27FC236}">
                <a16:creationId xmlns:a16="http://schemas.microsoft.com/office/drawing/2014/main" id="{AE2E7624-4D70-E240-94E5-500147AC9121}"/>
              </a:ext>
            </a:extLst>
          </p:cNvPr>
          <p:cNvSpPr txBox="1"/>
          <p:nvPr/>
        </p:nvSpPr>
        <p:spPr>
          <a:xfrm>
            <a:off x="129309" y="2424610"/>
            <a:ext cx="12395200" cy="769441"/>
          </a:xfrm>
          <a:prstGeom prst="rect">
            <a:avLst/>
          </a:prstGeom>
          <a:noFill/>
        </p:spPr>
        <p:txBody>
          <a:bodyPr wrap="square">
            <a:spAutoFit/>
          </a:bodyPr>
          <a:lstStyle/>
          <a:p>
            <a:pPr algn="ctr"/>
            <a:r>
              <a:rPr lang="da-DK" sz="4400" b="1" dirty="0">
                <a:solidFill>
                  <a:schemeClr val="lt1"/>
                </a:solidFill>
                <a:latin typeface="Calibri" panose="020F0502020204030204" pitchFamily="34" charset="0"/>
              </a:rPr>
              <a:t>SOC Alert Monitoring &amp; Log Correlation</a:t>
            </a:r>
            <a:endParaRPr lang="en-IN" sz="4400" b="1" dirty="0">
              <a:solidFill>
                <a:schemeClr val="lt1"/>
              </a:solidFill>
              <a:latin typeface="Calibri" panose="020F0502020204030204" pitchFamily="34" charset="0"/>
            </a:endParaRPr>
          </a:p>
        </p:txBody>
      </p:sp>
      <p:sp>
        <p:nvSpPr>
          <p:cNvPr id="8" name="TextBox 7">
            <a:extLst>
              <a:ext uri="{FF2B5EF4-FFF2-40B4-BE49-F238E27FC236}">
                <a16:creationId xmlns:a16="http://schemas.microsoft.com/office/drawing/2014/main" id="{BE70B582-CEB4-4614-52EC-BABC5821B0D5}"/>
              </a:ext>
            </a:extLst>
          </p:cNvPr>
          <p:cNvSpPr txBox="1"/>
          <p:nvPr/>
        </p:nvSpPr>
        <p:spPr>
          <a:xfrm>
            <a:off x="3117273" y="3246643"/>
            <a:ext cx="6271490" cy="769441"/>
          </a:xfrm>
          <a:prstGeom prst="rect">
            <a:avLst/>
          </a:prstGeom>
          <a:noFill/>
        </p:spPr>
        <p:txBody>
          <a:bodyPr wrap="square">
            <a:spAutoFit/>
          </a:bodyPr>
          <a:lstStyle/>
          <a:p>
            <a:pPr algn="ctr"/>
            <a:r>
              <a:rPr lang="en-IN" sz="4400" b="1" dirty="0">
                <a:solidFill>
                  <a:schemeClr val="lt1"/>
                </a:solidFill>
                <a:latin typeface="Calibri" panose="020F0502020204030204" pitchFamily="34" charset="0"/>
              </a:rPr>
              <a:t>By: Yash Kasbe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A24C3-B2B4-40DB-ACB0-504F13FB8CF4}"/>
              </a:ext>
            </a:extLst>
          </p:cNvPr>
          <p:cNvSpPr>
            <a:spLocks noGrp="1"/>
          </p:cNvSpPr>
          <p:nvPr>
            <p:ph type="title"/>
          </p:nvPr>
        </p:nvSpPr>
        <p:spPr>
          <a:xfrm>
            <a:off x="9522692" y="2921000"/>
            <a:ext cx="1533236" cy="612775"/>
          </a:xfrm>
        </p:spPr>
        <p:txBody>
          <a:bodyPr/>
          <a:lstStyle/>
          <a:p>
            <a:pPr algn="ctr"/>
            <a:r>
              <a:rPr lang="en-US" dirty="0">
                <a:solidFill>
                  <a:schemeClr val="bg1"/>
                </a:solidFill>
              </a:rPr>
              <a:t>Agenda</a:t>
            </a:r>
            <a:endParaRPr lang="en-IN" dirty="0">
              <a:solidFill>
                <a:schemeClr val="bg1"/>
              </a:solidFill>
            </a:endParaRPr>
          </a:p>
        </p:txBody>
      </p:sp>
      <p:sp>
        <p:nvSpPr>
          <p:cNvPr id="3" name="Content Placeholder 2">
            <a:extLst>
              <a:ext uri="{FF2B5EF4-FFF2-40B4-BE49-F238E27FC236}">
                <a16:creationId xmlns:a16="http://schemas.microsoft.com/office/drawing/2014/main" id="{93937670-5A0A-FAA8-E9A6-4B096C009BDE}"/>
              </a:ext>
            </a:extLst>
          </p:cNvPr>
          <p:cNvSpPr>
            <a:spLocks noGrp="1"/>
          </p:cNvSpPr>
          <p:nvPr>
            <p:ph idx="1"/>
          </p:nvPr>
        </p:nvSpPr>
        <p:spPr>
          <a:xfrm>
            <a:off x="415634" y="847036"/>
            <a:ext cx="6899565" cy="4398066"/>
          </a:xfrm>
        </p:spPr>
        <p:txBody>
          <a:bodyPr>
            <a:normAutofit fontScale="77500" lnSpcReduction="20000"/>
          </a:bodyPr>
          <a:lstStyle/>
          <a:p>
            <a:pPr fontAlgn="base">
              <a:spcBef>
                <a:spcPct val="0"/>
              </a:spcBef>
              <a:spcAft>
                <a:spcPct val="0"/>
              </a:spcAft>
            </a:pPr>
            <a:r>
              <a:rPr lang="en-US" altLang="en-US" b="1" dirty="0">
                <a:solidFill>
                  <a:schemeClr val="tx1"/>
                </a:solidFill>
              </a:rPr>
              <a:t>Executive Abstract &amp; Goals</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Lab Architecture &amp; Investigation Flow</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SIEM Platform &amp; Data Collection</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Phase 1: SMB Brute Force Detection</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Phase 2: Privilege Escalation</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Phase 3: Defense Evasion via PowerShell</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Phase 4: File Integrity Monitoring (FIM)</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Impact Analysis &amp; Tuning Recommendations</a:t>
            </a:r>
          </a:p>
          <a:p>
            <a:pPr fontAlgn="base">
              <a:spcBef>
                <a:spcPct val="0"/>
              </a:spcBef>
              <a:spcAft>
                <a:spcPct val="0"/>
              </a:spcAft>
            </a:pPr>
            <a:endParaRPr lang="en-US" altLang="en-US" b="1" dirty="0">
              <a:solidFill>
                <a:schemeClr val="tx1"/>
              </a:solidFill>
            </a:endParaRPr>
          </a:p>
          <a:p>
            <a:pPr fontAlgn="base">
              <a:spcBef>
                <a:spcPct val="0"/>
              </a:spcBef>
              <a:spcAft>
                <a:spcPct val="0"/>
              </a:spcAft>
            </a:pPr>
            <a:r>
              <a:rPr lang="en-US" altLang="en-US" b="1" dirty="0">
                <a:solidFill>
                  <a:schemeClr val="tx1"/>
                </a:solidFill>
              </a:rPr>
              <a:t>Conclusion &amp; References</a:t>
            </a:r>
          </a:p>
          <a:p>
            <a:endParaRPr lang="en-IN" dirty="0"/>
          </a:p>
        </p:txBody>
      </p:sp>
    </p:spTree>
    <p:extLst>
      <p:ext uri="{BB962C8B-B14F-4D97-AF65-F5344CB8AC3E}">
        <p14:creationId xmlns:p14="http://schemas.microsoft.com/office/powerpoint/2010/main" val="928231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Abstract &amp; Project Goal</a:t>
            </a:r>
          </a:p>
        </p:txBody>
      </p:sp>
      <p:sp>
        <p:nvSpPr>
          <p:cNvPr id="5" name="Rectangle 2">
            <a:extLst>
              <a:ext uri="{FF2B5EF4-FFF2-40B4-BE49-F238E27FC236}">
                <a16:creationId xmlns:a16="http://schemas.microsoft.com/office/drawing/2014/main" id="{F700F9D3-17DA-32C5-5D71-AAA78073AEF0}"/>
              </a:ext>
            </a:extLst>
          </p:cNvPr>
          <p:cNvSpPr>
            <a:spLocks noGrp="1" noChangeArrowheads="1"/>
          </p:cNvSpPr>
          <p:nvPr>
            <p:ph idx="1"/>
          </p:nvPr>
        </p:nvSpPr>
        <p:spPr bwMode="auto">
          <a:xfrm>
            <a:off x="509615" y="1143936"/>
            <a:ext cx="1100350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Objective:</a:t>
            </a:r>
            <a:r>
              <a:rPr kumimoji="0" lang="en-US" altLang="en-US" sz="2000" b="0" i="0" u="none" strike="noStrike" cap="none" normalizeH="0" baseline="0" dirty="0">
                <a:ln>
                  <a:noFill/>
                </a:ln>
                <a:solidFill>
                  <a:schemeClr val="tx1"/>
                </a:solidFill>
                <a:effectLst/>
                <a:latin typeface="Arial" panose="020B0604020202020204" pitchFamily="34" charset="0"/>
              </a:rPr>
              <a:t> To design and implement a step-by-step investigation workflow demonstrating how SOC analysts detect and triage suspicious behavior using log correlation.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Methodology:</a:t>
            </a:r>
            <a:r>
              <a:rPr kumimoji="0" lang="en-US" altLang="en-US" sz="2000" b="0" i="0" u="none" strike="noStrike" cap="none" normalizeH="0" baseline="0" dirty="0">
                <a:ln>
                  <a:noFill/>
                </a:ln>
                <a:solidFill>
                  <a:schemeClr val="tx1"/>
                </a:solidFill>
                <a:effectLst/>
                <a:latin typeface="Arial" panose="020B0604020202020204" pitchFamily="34" charset="0"/>
              </a:rPr>
              <a:t> Simulated a targeted attack lifecycle—including SMB brute-forcing, unauthorized user creation, privilege escalation, and defense evasion—and monitored the resulting telemetry.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Final Output:</a:t>
            </a:r>
            <a:r>
              <a:rPr kumimoji="0" lang="en-US" altLang="en-US" sz="2000" b="0" i="0" u="none" strike="noStrike" cap="none" normalizeH="0" baseline="0" dirty="0">
                <a:ln>
                  <a:noFill/>
                </a:ln>
                <a:solidFill>
                  <a:schemeClr val="tx1"/>
                </a:solidFill>
                <a:effectLst/>
                <a:latin typeface="Arial" panose="020B0604020202020204" pitchFamily="34" charset="0"/>
              </a:rPr>
              <a:t> A comprehensive Proof of Concept (PoC) mapping local Windows Security Event logs directly to </a:t>
            </a:r>
            <a:r>
              <a:rPr kumimoji="0" lang="en-US" altLang="en-US" sz="2000" b="0" i="0" u="none" strike="noStrike" cap="none" normalizeH="0" baseline="0" dirty="0" err="1">
                <a:ln>
                  <a:noFill/>
                </a:ln>
                <a:solidFill>
                  <a:schemeClr val="tx1"/>
                </a:solidFill>
                <a:effectLst/>
                <a:latin typeface="Arial" panose="020B0604020202020204" pitchFamily="34" charset="0"/>
              </a:rPr>
              <a:t>Wazuh</a:t>
            </a:r>
            <a:r>
              <a:rPr kumimoji="0" lang="en-US" altLang="en-US" sz="2000" b="0" i="0" u="none" strike="noStrike" cap="none" normalizeH="0" baseline="0" dirty="0">
                <a:ln>
                  <a:noFill/>
                </a:ln>
                <a:solidFill>
                  <a:schemeClr val="tx1"/>
                </a:solidFill>
                <a:effectLst/>
                <a:latin typeface="Arial" panose="020B0604020202020204" pitchFamily="34" charset="0"/>
              </a:rPr>
              <a:t> SIEM alerts, concluding with actionable recommendations for rule tuning and reducing SOC alert fatigue.</a:t>
            </a:r>
          </a:p>
        </p:txBody>
      </p:sp>
    </p:spTree>
    <p:extLst>
      <p:ext uri="{BB962C8B-B14F-4D97-AF65-F5344CB8AC3E}">
        <p14:creationId xmlns:p14="http://schemas.microsoft.com/office/powerpoint/2010/main" val="22724594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8325-26E2-3C50-D631-437DA6451BC0}"/>
              </a:ext>
            </a:extLst>
          </p:cNvPr>
          <p:cNvSpPr>
            <a:spLocks noGrp="1"/>
          </p:cNvSpPr>
          <p:nvPr>
            <p:ph type="title"/>
          </p:nvPr>
        </p:nvSpPr>
        <p:spPr>
          <a:xfrm>
            <a:off x="678882" y="493711"/>
            <a:ext cx="5278573" cy="612775"/>
          </a:xfrm>
        </p:spPr>
        <p:txBody>
          <a:bodyPr>
            <a:normAutofit fontScale="90000"/>
          </a:bodyPr>
          <a:lstStyle/>
          <a:p>
            <a:r>
              <a:rPr lang="en-IN" dirty="0"/>
              <a:t>Attack Simulation Environment</a:t>
            </a:r>
            <a:br>
              <a:rPr lang="en-IN" dirty="0"/>
            </a:br>
            <a:endParaRPr lang="en-IN" dirty="0"/>
          </a:p>
        </p:txBody>
      </p:sp>
      <p:sp>
        <p:nvSpPr>
          <p:cNvPr id="3" name="Content Placeholder 2">
            <a:extLst>
              <a:ext uri="{FF2B5EF4-FFF2-40B4-BE49-F238E27FC236}">
                <a16:creationId xmlns:a16="http://schemas.microsoft.com/office/drawing/2014/main" id="{C9159628-E967-217E-56A1-5336307150F7}"/>
              </a:ext>
            </a:extLst>
          </p:cNvPr>
          <p:cNvSpPr>
            <a:spLocks noGrp="1"/>
          </p:cNvSpPr>
          <p:nvPr>
            <p:ph idx="1"/>
          </p:nvPr>
        </p:nvSpPr>
        <p:spPr>
          <a:xfrm>
            <a:off x="277746" y="1106486"/>
            <a:ext cx="7055274" cy="4398066"/>
          </a:xfrm>
        </p:spPr>
        <p:txBody>
          <a:bodyPr>
            <a:normAutofit/>
          </a:bodyPr>
          <a:lstStyle/>
          <a:p>
            <a:pPr marL="0" indent="0">
              <a:buNone/>
            </a:pPr>
            <a:r>
              <a:rPr lang="en-IN" sz="2200" b="1" dirty="0"/>
              <a:t>To demonstrate the SOC investigation workflow, an isolated lab environment was established:</a:t>
            </a:r>
          </a:p>
          <a:p>
            <a:r>
              <a:rPr lang="en-IN" sz="2400" b="1" dirty="0"/>
              <a:t>Attacker Machine:</a:t>
            </a:r>
            <a:r>
              <a:rPr lang="en-IN" sz="2400" dirty="0"/>
              <a:t> Kali Linux (IP: 192.168.29.x) utilizing tools like </a:t>
            </a:r>
            <a:r>
              <a:rPr lang="en-IN" sz="2400" dirty="0" err="1"/>
              <a:t>crackmapexec</a:t>
            </a:r>
            <a:r>
              <a:rPr lang="en-IN" sz="2400" dirty="0"/>
              <a:t> to simulate external threat actor </a:t>
            </a:r>
            <a:r>
              <a:rPr lang="en-IN" sz="2400" dirty="0" err="1"/>
              <a:t>behaviors</a:t>
            </a:r>
            <a:r>
              <a:rPr lang="en-IN" sz="2400" dirty="0"/>
              <a:t>.</a:t>
            </a:r>
          </a:p>
          <a:p>
            <a:r>
              <a:rPr lang="en-IN" sz="2400" b="1" dirty="0"/>
              <a:t>Target Endpoint:</a:t>
            </a:r>
            <a:r>
              <a:rPr lang="en-IN" sz="2400" dirty="0"/>
              <a:t> Windows 11 Desktop (Hostname: DESKTOP-5CHLQBI) configured with advanced security auditing and Sysmon.</a:t>
            </a:r>
          </a:p>
          <a:p>
            <a:r>
              <a:rPr lang="en-IN" sz="2400" b="1" dirty="0"/>
              <a:t>SIEM Infrastructure:</a:t>
            </a:r>
            <a:r>
              <a:rPr lang="en-IN" sz="2400" dirty="0"/>
              <a:t> </a:t>
            </a:r>
            <a:r>
              <a:rPr lang="en-IN" sz="2400" dirty="0" err="1"/>
              <a:t>Wazuh</a:t>
            </a:r>
            <a:r>
              <a:rPr lang="en-IN" sz="2400" dirty="0"/>
              <a:t> Manager (IP: 192.168.29.39) receiving real-time telemetry from the </a:t>
            </a:r>
            <a:r>
              <a:rPr lang="en-IN" sz="2400" dirty="0" err="1"/>
              <a:t>Wazuh</a:t>
            </a:r>
            <a:r>
              <a:rPr lang="en-IN" sz="2400" dirty="0"/>
              <a:t> Agent installed on the Windows target.</a:t>
            </a:r>
          </a:p>
          <a:p>
            <a:endParaRPr lang="en-IN" dirty="0"/>
          </a:p>
        </p:txBody>
      </p:sp>
      <p:sp>
        <p:nvSpPr>
          <p:cNvPr id="7" name="TextBox 6">
            <a:extLst>
              <a:ext uri="{FF2B5EF4-FFF2-40B4-BE49-F238E27FC236}">
                <a16:creationId xmlns:a16="http://schemas.microsoft.com/office/drawing/2014/main" id="{3A9CD51F-C03A-BEB8-E6FA-CD81F10CA74D}"/>
              </a:ext>
            </a:extLst>
          </p:cNvPr>
          <p:cNvSpPr txBox="1"/>
          <p:nvPr/>
        </p:nvSpPr>
        <p:spPr>
          <a:xfrm>
            <a:off x="8386618" y="4165661"/>
            <a:ext cx="3990109" cy="951030"/>
          </a:xfrm>
          <a:prstGeom prst="rect">
            <a:avLst/>
          </a:prstGeom>
          <a:noFill/>
        </p:spPr>
        <p:txBody>
          <a:bodyPr wrap="square">
            <a:spAutoFit/>
          </a:bodyPr>
          <a:lstStyle/>
          <a:p>
            <a:pPr>
              <a:lnSpc>
                <a:spcPct val="90000"/>
              </a:lnSpc>
              <a:spcBef>
                <a:spcPct val="0"/>
              </a:spcBef>
            </a:pPr>
            <a:r>
              <a:rPr lang="en-IN" sz="3100" b="1" dirty="0">
                <a:solidFill>
                  <a:schemeClr val="bg1"/>
                </a:solidFill>
                <a:latin typeface="Calibri" panose="020F0502020204030204" pitchFamily="34" charset="0"/>
                <a:ea typeface="+mj-ea"/>
                <a:cs typeface="+mj-cs"/>
              </a:rPr>
              <a:t>Lab Environment &amp; Architecture</a:t>
            </a:r>
          </a:p>
        </p:txBody>
      </p:sp>
      <p:pic>
        <p:nvPicPr>
          <p:cNvPr id="5" name="Picture 4">
            <a:extLst>
              <a:ext uri="{FF2B5EF4-FFF2-40B4-BE49-F238E27FC236}">
                <a16:creationId xmlns:a16="http://schemas.microsoft.com/office/drawing/2014/main" id="{6CEB9F3F-B530-5D05-D942-F77EDBB5D3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00291" y="1"/>
            <a:ext cx="4091709" cy="3429000"/>
          </a:xfrm>
          <a:prstGeom prst="rect">
            <a:avLst/>
          </a:prstGeom>
        </p:spPr>
      </p:pic>
    </p:spTree>
    <p:extLst>
      <p:ext uri="{BB962C8B-B14F-4D97-AF65-F5344CB8AC3E}">
        <p14:creationId xmlns:p14="http://schemas.microsoft.com/office/powerpoint/2010/main" val="1241266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32A818-BF2E-A3DE-8480-DDE48FDDBE3F}"/>
              </a:ext>
            </a:extLst>
          </p:cNvPr>
          <p:cNvSpPr>
            <a:spLocks noGrp="1"/>
          </p:cNvSpPr>
          <p:nvPr>
            <p:ph type="title"/>
          </p:nvPr>
        </p:nvSpPr>
        <p:spPr>
          <a:xfrm>
            <a:off x="434109" y="2147887"/>
            <a:ext cx="3315855" cy="2562226"/>
          </a:xfrm>
        </p:spPr>
        <p:txBody>
          <a:bodyPr/>
          <a:lstStyle/>
          <a:p>
            <a:r>
              <a:rPr lang="en-IN" dirty="0"/>
              <a:t>Investigation Flow</a:t>
            </a:r>
          </a:p>
        </p:txBody>
      </p:sp>
      <p:sp>
        <p:nvSpPr>
          <p:cNvPr id="6" name="TextBox 5">
            <a:extLst>
              <a:ext uri="{FF2B5EF4-FFF2-40B4-BE49-F238E27FC236}">
                <a16:creationId xmlns:a16="http://schemas.microsoft.com/office/drawing/2014/main" id="{E2A839BE-6C27-5C42-9890-F4EEBA198E28}"/>
              </a:ext>
            </a:extLst>
          </p:cNvPr>
          <p:cNvSpPr txBox="1"/>
          <p:nvPr/>
        </p:nvSpPr>
        <p:spPr>
          <a:xfrm>
            <a:off x="4455269" y="120073"/>
            <a:ext cx="7259782" cy="563231"/>
          </a:xfrm>
          <a:prstGeom prst="rect">
            <a:avLst/>
          </a:prstGeom>
          <a:noFill/>
        </p:spPr>
        <p:txBody>
          <a:bodyPr wrap="square" rtlCol="0">
            <a:spAutoFit/>
          </a:bodyPr>
          <a:lstStyle/>
          <a:p>
            <a:pPr>
              <a:lnSpc>
                <a:spcPct val="90000"/>
              </a:lnSpc>
              <a:spcBef>
                <a:spcPct val="0"/>
              </a:spcBef>
            </a:pPr>
            <a:r>
              <a:rPr lang="en-US" sz="3400" b="1" dirty="0">
                <a:latin typeface="Calibri" panose="020F0502020204030204" pitchFamily="34" charset="0"/>
                <a:ea typeface="+mj-ea"/>
                <a:cs typeface="+mj-cs"/>
              </a:rPr>
              <a:t>The Kill Chain &amp; Investigation Timeline</a:t>
            </a:r>
            <a:endParaRPr lang="en-IN" sz="3400" b="1" dirty="0">
              <a:latin typeface="Calibri" panose="020F0502020204030204" pitchFamily="34" charset="0"/>
              <a:ea typeface="+mj-ea"/>
              <a:cs typeface="+mj-cs"/>
            </a:endParaRPr>
          </a:p>
        </p:txBody>
      </p:sp>
      <p:sp>
        <p:nvSpPr>
          <p:cNvPr id="5" name="Rectangle 2">
            <a:extLst>
              <a:ext uri="{FF2B5EF4-FFF2-40B4-BE49-F238E27FC236}">
                <a16:creationId xmlns:a16="http://schemas.microsoft.com/office/drawing/2014/main" id="{9117176A-6CFB-3E65-E4A3-5AC2DB6AC89A}"/>
              </a:ext>
            </a:extLst>
          </p:cNvPr>
          <p:cNvSpPr>
            <a:spLocks noGrp="1" noChangeArrowheads="1"/>
          </p:cNvSpPr>
          <p:nvPr>
            <p:ph idx="1"/>
          </p:nvPr>
        </p:nvSpPr>
        <p:spPr bwMode="auto">
          <a:xfrm>
            <a:off x="4455269" y="1053075"/>
            <a:ext cx="716679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1: Initial Access</a:t>
            </a:r>
            <a:r>
              <a:rPr kumimoji="0" lang="en-US" altLang="en-US" sz="1800" b="0" i="0" u="none" strike="noStrike" cap="none" normalizeH="0" baseline="0" dirty="0">
                <a:ln>
                  <a:noFill/>
                </a:ln>
                <a:solidFill>
                  <a:schemeClr val="tx1"/>
                </a:solidFill>
                <a:effectLst/>
                <a:latin typeface="Arial" panose="020B0604020202020204" pitchFamily="34" charset="0"/>
              </a:rPr>
              <a:t> → Attacker executes SMB Brute Force. </a:t>
            </a:r>
            <a:r>
              <a:rPr kumimoji="0" lang="en-US" altLang="en-US" sz="1800" b="0" i="1" u="none" strike="noStrike" cap="none" normalizeH="0" baseline="0" dirty="0">
                <a:ln>
                  <a:noFill/>
                </a:ln>
                <a:solidFill>
                  <a:schemeClr val="tx1"/>
                </a:solidFill>
                <a:effectLst/>
                <a:latin typeface="Arial" panose="020B0604020202020204" pitchFamily="34" charset="0"/>
              </a:rPr>
              <a:t>SOC Action: Investigate Event 4625 anomalous clusters.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2: Persistence</a:t>
            </a:r>
            <a:r>
              <a:rPr kumimoji="0" lang="en-US" altLang="en-US" sz="1800" b="0" i="0" u="none" strike="noStrike" cap="none" normalizeH="0" baseline="0" dirty="0">
                <a:ln>
                  <a:noFill/>
                </a:ln>
                <a:solidFill>
                  <a:schemeClr val="tx1"/>
                </a:solidFill>
                <a:effectLst/>
                <a:latin typeface="Arial" panose="020B0604020202020204" pitchFamily="34" charset="0"/>
              </a:rPr>
              <a:t> → Attacker creates rogue </a:t>
            </a:r>
            <a:r>
              <a:rPr lang="en-US" altLang="en-US" sz="1800" dirty="0">
                <a:solidFill>
                  <a:schemeClr val="tx1"/>
                </a:solidFill>
                <a:latin typeface="Arial" panose="020B0604020202020204" pitchFamily="34" charset="0"/>
              </a:rPr>
              <a:t>hacker account &amp; elevates to Admin. </a:t>
            </a:r>
            <a:r>
              <a:rPr kumimoji="0" lang="en-US" altLang="en-US" sz="1800" b="0" i="1" u="none" strike="noStrike" cap="none" normalizeH="0" baseline="0" dirty="0">
                <a:ln>
                  <a:noFill/>
                </a:ln>
                <a:solidFill>
                  <a:schemeClr val="tx1"/>
                </a:solidFill>
                <a:effectLst/>
                <a:latin typeface="Arial" panose="020B0604020202020204" pitchFamily="34" charset="0"/>
              </a:rPr>
              <a:t>SOC Action: Correlate Event 4720 &amp; 4732.</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3: Evasion</a:t>
            </a:r>
            <a:r>
              <a:rPr kumimoji="0" lang="en-US" altLang="en-US" sz="1800" b="0" i="0" u="none" strike="noStrike" cap="none" normalizeH="0" baseline="0" dirty="0">
                <a:ln>
                  <a:noFill/>
                </a:ln>
                <a:solidFill>
                  <a:schemeClr val="tx1"/>
                </a:solidFill>
                <a:effectLst/>
                <a:latin typeface="Arial" panose="020B0604020202020204" pitchFamily="34" charset="0"/>
              </a:rPr>
              <a:t> → Attacker bypasses PowerShell execution policies. </a:t>
            </a:r>
            <a:r>
              <a:rPr kumimoji="0" lang="en-US" altLang="en-US" sz="1800" b="0" i="1" u="none" strike="noStrike" cap="none" normalizeH="0" baseline="0" dirty="0">
                <a:ln>
                  <a:noFill/>
                </a:ln>
                <a:solidFill>
                  <a:schemeClr val="tx1"/>
                </a:solidFill>
                <a:effectLst/>
                <a:latin typeface="Arial" panose="020B0604020202020204" pitchFamily="34" charset="0"/>
              </a:rPr>
              <a:t>SOC Action: Analyze Event 4688 with bypass flags.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Phase 4: Impact</a:t>
            </a:r>
            <a:r>
              <a:rPr kumimoji="0" lang="en-US" altLang="en-US" sz="1800" b="0" i="0" u="none" strike="noStrike" cap="none" normalizeH="0" baseline="0" dirty="0">
                <a:ln>
                  <a:noFill/>
                </a:ln>
                <a:solidFill>
                  <a:schemeClr val="tx1"/>
                </a:solidFill>
                <a:effectLst/>
                <a:latin typeface="Arial" panose="020B0604020202020204" pitchFamily="34" charset="0"/>
              </a:rPr>
              <a:t> → Attacker manipulates files in </a:t>
            </a:r>
            <a:r>
              <a:rPr lang="en-US" altLang="en-US" sz="1800" dirty="0">
                <a:solidFill>
                  <a:schemeClr val="tx1"/>
                </a:solidFill>
                <a:latin typeface="Arial" panose="020B0604020202020204" pitchFamily="34" charset="0"/>
              </a:rPr>
              <a:t>C:\Users\admin\Hackers. </a:t>
            </a:r>
            <a:r>
              <a:rPr kumimoji="0" lang="en-US" altLang="en-US" sz="1800" b="0" i="1" u="none" strike="noStrike" cap="none" normalizeH="0" baseline="0" dirty="0">
                <a:ln>
                  <a:noFill/>
                </a:ln>
                <a:solidFill>
                  <a:schemeClr val="tx1"/>
                </a:solidFill>
                <a:effectLst/>
                <a:latin typeface="Arial" panose="020B0604020202020204" pitchFamily="34" charset="0"/>
              </a:rPr>
              <a:t>SOC Action: Review FIM dashboard for integrity changes.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Conclusion</a:t>
            </a:r>
            <a:r>
              <a:rPr kumimoji="0" lang="en-US" altLang="en-US" sz="1800" b="0" i="0" u="none" strike="noStrike" cap="none" normalizeH="0" baseline="0" dirty="0">
                <a:ln>
                  <a:noFill/>
                </a:ln>
                <a:solidFill>
                  <a:schemeClr val="tx1"/>
                </a:solidFill>
                <a:effectLst/>
                <a:latin typeface="Arial" panose="020B0604020202020204" pitchFamily="34" charset="0"/>
              </a:rPr>
              <a:t> → Isolate host, suspend compromised accounts, and tune alerting thresholds.</a:t>
            </a:r>
          </a:p>
        </p:txBody>
      </p:sp>
    </p:spTree>
    <p:extLst>
      <p:ext uri="{BB962C8B-B14F-4D97-AF65-F5344CB8AC3E}">
        <p14:creationId xmlns:p14="http://schemas.microsoft.com/office/powerpoint/2010/main" val="1673234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221673" y="187323"/>
            <a:ext cx="5656811" cy="612775"/>
          </a:xfrm>
        </p:spPr>
        <p:txBody>
          <a:bodyPr>
            <a:normAutofit fontScale="90000"/>
          </a:bodyPr>
          <a:lstStyle/>
          <a:p>
            <a:r>
              <a:rPr lang="en-US" dirty="0"/>
              <a:t>SIEM Selection: </a:t>
            </a:r>
            <a:r>
              <a:rPr lang="en-US" dirty="0" err="1"/>
              <a:t>Wazuh</a:t>
            </a:r>
            <a:r>
              <a:rPr lang="en-US" dirty="0"/>
              <a:t> Deep Dive</a:t>
            </a:r>
            <a:endParaRPr lang="en-IN" dirty="0"/>
          </a:p>
        </p:txBody>
      </p:sp>
      <p:sp>
        <p:nvSpPr>
          <p:cNvPr id="5" name="Content Placeholder 4">
            <a:extLst>
              <a:ext uri="{FF2B5EF4-FFF2-40B4-BE49-F238E27FC236}">
                <a16:creationId xmlns:a16="http://schemas.microsoft.com/office/drawing/2014/main" id="{911E276C-DF85-3591-E888-F5B1B9B1522C}"/>
              </a:ext>
            </a:extLst>
          </p:cNvPr>
          <p:cNvSpPr>
            <a:spLocks noGrp="1"/>
          </p:cNvSpPr>
          <p:nvPr>
            <p:ph idx="1"/>
          </p:nvPr>
        </p:nvSpPr>
        <p:spPr>
          <a:xfrm>
            <a:off x="103678" y="957873"/>
            <a:ext cx="5892800" cy="4398066"/>
          </a:xfrm>
        </p:spPr>
        <p:txBody>
          <a:bodyPr>
            <a:normAutofit fontScale="92500" lnSpcReduction="10000"/>
          </a:bodyPr>
          <a:lstStyle/>
          <a:p>
            <a:r>
              <a:rPr lang="en-US" b="1" dirty="0"/>
              <a:t>Name &amp; Category:</a:t>
            </a:r>
            <a:r>
              <a:rPr lang="en-US" dirty="0"/>
              <a:t> </a:t>
            </a:r>
            <a:r>
              <a:rPr lang="en-US" sz="2400" dirty="0" err="1"/>
              <a:t>Wazuh</a:t>
            </a:r>
            <a:r>
              <a:rPr lang="en-US" sz="2400" dirty="0"/>
              <a:t> is an open-source, enterprise-ready Security Information and Event Management (SIEM) and Extended Detection and Response (XDR) platform.</a:t>
            </a:r>
          </a:p>
          <a:p>
            <a:r>
              <a:rPr lang="en-US" b="1" dirty="0"/>
              <a:t>Tool Justification:</a:t>
            </a:r>
            <a:r>
              <a:rPr lang="en-US" dirty="0"/>
              <a:t> </a:t>
            </a:r>
            <a:r>
              <a:rPr lang="en-US" sz="2400" dirty="0" err="1"/>
              <a:t>Wazuh</a:t>
            </a:r>
            <a:r>
              <a:rPr lang="en-US" sz="2400" dirty="0"/>
              <a:t> was chosen over alternatives like ELK Stack or Splunk Free due to its open-source flexibility, lightweight agent architecture, and robust out-of-the-box correlation rules</a:t>
            </a:r>
            <a:r>
              <a:rPr lang="en-US" dirty="0"/>
              <a:t>.</a:t>
            </a:r>
          </a:p>
          <a:p>
            <a:r>
              <a:rPr lang="en-US" b="1" dirty="0"/>
              <a:t>Popularity:</a:t>
            </a:r>
            <a:r>
              <a:rPr lang="en-US" dirty="0"/>
              <a:t> </a:t>
            </a:r>
            <a:r>
              <a:rPr lang="en-US" sz="2400" dirty="0"/>
              <a:t>Highly popular in enterprise and academic environments due to its comprehensive MITRE ATT&amp;CK mapping and seamless endpoint telemetry integration.</a:t>
            </a:r>
          </a:p>
          <a:p>
            <a:endParaRPr lang="en-IN" dirty="0"/>
          </a:p>
        </p:txBody>
      </p:sp>
      <p:sp>
        <p:nvSpPr>
          <p:cNvPr id="3" name="TextBox 2">
            <a:extLst>
              <a:ext uri="{FF2B5EF4-FFF2-40B4-BE49-F238E27FC236}">
                <a16:creationId xmlns:a16="http://schemas.microsoft.com/office/drawing/2014/main" id="{2EAF13E3-92FA-502E-C772-A1A143E2F642}"/>
              </a:ext>
            </a:extLst>
          </p:cNvPr>
          <p:cNvSpPr txBox="1"/>
          <p:nvPr/>
        </p:nvSpPr>
        <p:spPr>
          <a:xfrm>
            <a:off x="6627326" y="4771662"/>
            <a:ext cx="5107239" cy="707886"/>
          </a:xfrm>
          <a:prstGeom prst="rect">
            <a:avLst/>
          </a:prstGeom>
          <a:noFill/>
        </p:spPr>
        <p:txBody>
          <a:bodyPr wrap="square">
            <a:spAutoFit/>
          </a:bodyPr>
          <a:lstStyle/>
          <a:p>
            <a:r>
              <a:rPr lang="en-IN" sz="4000" dirty="0">
                <a:solidFill>
                  <a:schemeClr val="bg1"/>
                </a:solidFill>
              </a:rPr>
              <a:t>SIEM Platform Research</a:t>
            </a:r>
          </a:p>
        </p:txBody>
      </p:sp>
      <p:pic>
        <p:nvPicPr>
          <p:cNvPr id="8" name="Picture 7">
            <a:extLst>
              <a:ext uri="{FF2B5EF4-FFF2-40B4-BE49-F238E27FC236}">
                <a16:creationId xmlns:a16="http://schemas.microsoft.com/office/drawing/2014/main" id="{17F51680-E3CB-82FE-FFAA-D32E55C0110A}"/>
              </a:ext>
            </a:extLst>
          </p:cNvPr>
          <p:cNvPicPr>
            <a:picLocks noChangeAspect="1"/>
          </p:cNvPicPr>
          <p:nvPr/>
        </p:nvPicPr>
        <p:blipFill>
          <a:blip r:embed="rId2"/>
          <a:stretch>
            <a:fillRect/>
          </a:stretch>
        </p:blipFill>
        <p:spPr>
          <a:xfrm>
            <a:off x="6169893" y="73891"/>
            <a:ext cx="6022107" cy="4398067"/>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687AB0-8EA2-E276-D1D1-7128A7EA1549}"/>
              </a:ext>
            </a:extLst>
          </p:cNvPr>
          <p:cNvSpPr>
            <a:spLocks noGrp="1"/>
          </p:cNvSpPr>
          <p:nvPr>
            <p:ph idx="1"/>
          </p:nvPr>
        </p:nvSpPr>
        <p:spPr>
          <a:xfrm>
            <a:off x="4446032" y="960583"/>
            <a:ext cx="7625895" cy="4516582"/>
          </a:xfrm>
        </p:spPr>
        <p:txBody>
          <a:bodyPr>
            <a:normAutofit fontScale="77500" lnSpcReduction="20000"/>
          </a:bodyPr>
          <a:lstStyle/>
          <a:p>
            <a:r>
              <a:rPr lang="en-IN" dirty="0"/>
              <a:t>To ensure total visibility, the </a:t>
            </a:r>
            <a:r>
              <a:rPr lang="en-IN" dirty="0" err="1"/>
              <a:t>Wazuh</a:t>
            </a:r>
            <a:r>
              <a:rPr lang="en-IN" dirty="0"/>
              <a:t> agent collected critical endpoint telemetry. Analysts utilized Dashboard Query Language (DQL) filters (e.g., </a:t>
            </a:r>
            <a:r>
              <a:rPr lang="en-IN" dirty="0" err="1"/>
              <a:t>data.win.system.eventID</a:t>
            </a:r>
            <a:r>
              <a:rPr lang="en-IN" dirty="0"/>
              <a:t>) to isolate the attacker's footprint amidst normal background noise:</a:t>
            </a:r>
          </a:p>
          <a:p>
            <a:endParaRPr lang="en-IN" dirty="0"/>
          </a:p>
          <a:p>
            <a:r>
              <a:rPr lang="en-IN" b="1" dirty="0"/>
              <a:t>Authentication Logs:</a:t>
            </a:r>
            <a:r>
              <a:rPr lang="en-IN" dirty="0"/>
              <a:t> Auditing Logon events (Success/Failure) to detect brute-force activity.</a:t>
            </a:r>
          </a:p>
          <a:p>
            <a:endParaRPr lang="en-IN" dirty="0"/>
          </a:p>
          <a:p>
            <a:r>
              <a:rPr lang="en-IN" b="1" dirty="0"/>
              <a:t>Network Logs:</a:t>
            </a:r>
            <a:r>
              <a:rPr lang="en-IN" dirty="0"/>
              <a:t> Monitoring remote SMB connections originating from the attacker subnet utilizing Sysmon Event ID 3 (Network Connections) and native Windows Security logs.</a:t>
            </a:r>
          </a:p>
          <a:p>
            <a:endParaRPr lang="en-IN" dirty="0"/>
          </a:p>
          <a:p>
            <a:r>
              <a:rPr lang="en-IN" b="1" dirty="0"/>
              <a:t>Endpoint/System Logs:</a:t>
            </a:r>
            <a:r>
              <a:rPr lang="en-IN" dirty="0"/>
              <a:t> Utilizing Windows Advanced Audit Policies to capture Process Creation (Event 4688) and Security Group Management (Event 4732).</a:t>
            </a:r>
          </a:p>
          <a:p>
            <a:endParaRPr lang="en-IN" dirty="0"/>
          </a:p>
        </p:txBody>
      </p:sp>
      <p:sp>
        <p:nvSpPr>
          <p:cNvPr id="3" name="Title 2">
            <a:extLst>
              <a:ext uri="{FF2B5EF4-FFF2-40B4-BE49-F238E27FC236}">
                <a16:creationId xmlns:a16="http://schemas.microsoft.com/office/drawing/2014/main" id="{D10984D9-6572-9E7F-7D2F-CEBC4697A872}"/>
              </a:ext>
            </a:extLst>
          </p:cNvPr>
          <p:cNvSpPr>
            <a:spLocks noGrp="1"/>
          </p:cNvSpPr>
          <p:nvPr>
            <p:ph type="title"/>
          </p:nvPr>
        </p:nvSpPr>
        <p:spPr>
          <a:xfrm>
            <a:off x="120073" y="4968361"/>
            <a:ext cx="3879272" cy="1580221"/>
          </a:xfrm>
        </p:spPr>
        <p:txBody>
          <a:bodyPr/>
          <a:lstStyle/>
          <a:p>
            <a:r>
              <a:rPr lang="en-IN" dirty="0"/>
              <a:t>Log Data Collection Strategy</a:t>
            </a:r>
          </a:p>
        </p:txBody>
      </p:sp>
      <p:sp>
        <p:nvSpPr>
          <p:cNvPr id="5" name="Title 3">
            <a:extLst>
              <a:ext uri="{FF2B5EF4-FFF2-40B4-BE49-F238E27FC236}">
                <a16:creationId xmlns:a16="http://schemas.microsoft.com/office/drawing/2014/main" id="{7C090142-55B0-048C-ACEC-76A2BB7052CB}"/>
              </a:ext>
            </a:extLst>
          </p:cNvPr>
          <p:cNvSpPr txBox="1">
            <a:spLocks/>
          </p:cNvSpPr>
          <p:nvPr/>
        </p:nvSpPr>
        <p:spPr>
          <a:xfrm>
            <a:off x="4589828" y="157146"/>
            <a:ext cx="6862618" cy="612775"/>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400" b="1" kern="1200">
                <a:solidFill>
                  <a:schemeClr val="bg1"/>
                </a:solidFill>
                <a:latin typeface="Calibri" panose="020F0502020204030204" pitchFamily="34" charset="0"/>
                <a:ea typeface="+mj-ea"/>
                <a:cs typeface="+mj-cs"/>
              </a:defRPr>
            </a:lvl1pPr>
          </a:lstStyle>
          <a:p>
            <a:pPr>
              <a:lnSpc>
                <a:spcPct val="100000"/>
              </a:lnSpc>
            </a:pPr>
            <a:r>
              <a:rPr lang="en-IN" dirty="0">
                <a:solidFill>
                  <a:schemeClr val="tx1"/>
                </a:solidFill>
              </a:rPr>
              <a:t>Telemetry, Data Collection &amp; Filtering</a:t>
            </a:r>
          </a:p>
        </p:txBody>
      </p:sp>
      <p:pic>
        <p:nvPicPr>
          <p:cNvPr id="6" name="Picture 5">
            <a:extLst>
              <a:ext uri="{FF2B5EF4-FFF2-40B4-BE49-F238E27FC236}">
                <a16:creationId xmlns:a16="http://schemas.microsoft.com/office/drawing/2014/main" id="{88FC54E7-A50C-A0CF-E2A4-32A4160AFF4E}"/>
              </a:ext>
            </a:extLst>
          </p:cNvPr>
          <p:cNvPicPr>
            <a:picLocks noChangeAspect="1"/>
          </p:cNvPicPr>
          <p:nvPr/>
        </p:nvPicPr>
        <p:blipFill>
          <a:blip r:embed="rId2"/>
          <a:stretch>
            <a:fillRect/>
          </a:stretch>
        </p:blipFill>
        <p:spPr>
          <a:xfrm>
            <a:off x="112505" y="674256"/>
            <a:ext cx="4110183" cy="3463636"/>
          </a:xfrm>
          <a:prstGeom prst="rect">
            <a:avLst/>
          </a:prstGeom>
        </p:spPr>
      </p:pic>
    </p:spTree>
    <p:extLst>
      <p:ext uri="{BB962C8B-B14F-4D97-AF65-F5344CB8AC3E}">
        <p14:creationId xmlns:p14="http://schemas.microsoft.com/office/powerpoint/2010/main" val="2789364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187A-83C0-6924-4216-E002042327D9}"/>
              </a:ext>
            </a:extLst>
          </p:cNvPr>
          <p:cNvSpPr>
            <a:spLocks noGrp="1"/>
          </p:cNvSpPr>
          <p:nvPr>
            <p:ph type="title"/>
          </p:nvPr>
        </p:nvSpPr>
        <p:spPr>
          <a:xfrm>
            <a:off x="678883" y="252684"/>
            <a:ext cx="10834233" cy="612775"/>
          </a:xfrm>
        </p:spPr>
        <p:txBody>
          <a:bodyPr/>
          <a:lstStyle/>
          <a:p>
            <a:r>
              <a:rPr lang="en-US" dirty="0"/>
              <a:t>Attack Phase 1: SMB Brute Force Detection</a:t>
            </a:r>
            <a:endParaRPr lang="en-IN" dirty="0"/>
          </a:p>
        </p:txBody>
      </p:sp>
      <p:pic>
        <p:nvPicPr>
          <p:cNvPr id="6" name="Content Placeholder 5">
            <a:extLst>
              <a:ext uri="{FF2B5EF4-FFF2-40B4-BE49-F238E27FC236}">
                <a16:creationId xmlns:a16="http://schemas.microsoft.com/office/drawing/2014/main" id="{0CAF7C77-9F7D-CA3D-193D-330CF1A383E6}"/>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73891" y="2124364"/>
            <a:ext cx="5945909" cy="3953164"/>
          </a:xfrm>
          <a:prstGeom prst="rect">
            <a:avLst/>
          </a:prstGeom>
        </p:spPr>
      </p:pic>
      <p:pic>
        <p:nvPicPr>
          <p:cNvPr id="8" name="Content Placeholder 7">
            <a:extLst>
              <a:ext uri="{FF2B5EF4-FFF2-40B4-BE49-F238E27FC236}">
                <a16:creationId xmlns:a16="http://schemas.microsoft.com/office/drawing/2014/main" id="{09243A7D-44E8-212A-59E4-197E5CC170E5}"/>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200" y="2124364"/>
            <a:ext cx="6019800" cy="3953164"/>
          </a:xfrm>
          <a:prstGeom prst="rect">
            <a:avLst/>
          </a:prstGeom>
        </p:spPr>
      </p:pic>
      <p:sp>
        <p:nvSpPr>
          <p:cNvPr id="9" name="TextBox 8">
            <a:extLst>
              <a:ext uri="{FF2B5EF4-FFF2-40B4-BE49-F238E27FC236}">
                <a16:creationId xmlns:a16="http://schemas.microsoft.com/office/drawing/2014/main" id="{2E340615-3D20-5A2D-F27F-8511E04EF93E}"/>
              </a:ext>
            </a:extLst>
          </p:cNvPr>
          <p:cNvSpPr txBox="1"/>
          <p:nvPr/>
        </p:nvSpPr>
        <p:spPr>
          <a:xfrm>
            <a:off x="0" y="865459"/>
            <a:ext cx="12192000" cy="923330"/>
          </a:xfrm>
          <a:prstGeom prst="rect">
            <a:avLst/>
          </a:prstGeom>
          <a:noFill/>
        </p:spPr>
        <p:txBody>
          <a:bodyPr wrap="square" rtlCol="0">
            <a:spAutoFit/>
          </a:bodyPr>
          <a:lstStyle/>
          <a:p>
            <a:r>
              <a:rPr lang="en-US" dirty="0"/>
              <a:t>The attack simulation commenced with a dictionary brute-force attack against the endpoint's SMB service using </a:t>
            </a:r>
            <a:r>
              <a:rPr lang="en-US" dirty="0" err="1"/>
              <a:t>crackmapexec</a:t>
            </a:r>
            <a:r>
              <a:rPr lang="en-US" dirty="0"/>
              <a:t>. The SIEM successfully correlated a rapid succession of </a:t>
            </a:r>
            <a:r>
              <a:rPr lang="en-US" b="1" dirty="0"/>
              <a:t>Event ID 4625</a:t>
            </a:r>
            <a:r>
              <a:rPr lang="en-US" dirty="0"/>
              <a:t> (STATUS_LOGON_FAILURE), immediately followed by a successful authentication (</a:t>
            </a:r>
            <a:r>
              <a:rPr lang="en-US" b="1" dirty="0"/>
              <a:t>Event ID 4624</a:t>
            </a:r>
            <a:r>
              <a:rPr lang="en-US" dirty="0"/>
              <a:t>).</a:t>
            </a:r>
            <a:endParaRPr lang="en-IN" dirty="0"/>
          </a:p>
        </p:txBody>
      </p:sp>
    </p:spTree>
    <p:extLst>
      <p:ext uri="{BB962C8B-B14F-4D97-AF65-F5344CB8AC3E}">
        <p14:creationId xmlns:p14="http://schemas.microsoft.com/office/powerpoint/2010/main" val="711622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69998C-B1D2-4F32-F5C0-DB4E963649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25312"/>
            <a:ext cx="12192000" cy="4870688"/>
          </a:xfrm>
          <a:prstGeom prst="rect">
            <a:avLst/>
          </a:prstGeom>
        </p:spPr>
      </p:pic>
      <p:sp>
        <p:nvSpPr>
          <p:cNvPr id="5" name="Title 1">
            <a:extLst>
              <a:ext uri="{FF2B5EF4-FFF2-40B4-BE49-F238E27FC236}">
                <a16:creationId xmlns:a16="http://schemas.microsoft.com/office/drawing/2014/main" id="{975B7705-AF34-4415-535D-D35551CC5B95}"/>
              </a:ext>
            </a:extLst>
          </p:cNvPr>
          <p:cNvSpPr txBox="1">
            <a:spLocks/>
          </p:cNvSpPr>
          <p:nvPr/>
        </p:nvSpPr>
        <p:spPr>
          <a:xfrm>
            <a:off x="1140701" y="0"/>
            <a:ext cx="10834233" cy="612775"/>
          </a:xfrm>
          <a:prstGeom prst="rect">
            <a:avLst/>
          </a:prstGeom>
        </p:spPr>
        <p:txBody>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US" dirty="0"/>
              <a:t>Phase 1 Forensic Evidence: Event ID 4625 Detail </a:t>
            </a:r>
            <a:endParaRPr lang="en-IN" dirty="0"/>
          </a:p>
        </p:txBody>
      </p:sp>
      <p:sp>
        <p:nvSpPr>
          <p:cNvPr id="7" name="TextBox 6">
            <a:extLst>
              <a:ext uri="{FF2B5EF4-FFF2-40B4-BE49-F238E27FC236}">
                <a16:creationId xmlns:a16="http://schemas.microsoft.com/office/drawing/2014/main" id="{34EA1C96-34DF-77C1-98DD-FDDF27E5C5F8}"/>
              </a:ext>
            </a:extLst>
          </p:cNvPr>
          <p:cNvSpPr txBox="1"/>
          <p:nvPr/>
        </p:nvSpPr>
        <p:spPr>
          <a:xfrm>
            <a:off x="-1" y="612537"/>
            <a:ext cx="12191999" cy="646331"/>
          </a:xfrm>
          <a:prstGeom prst="rect">
            <a:avLst/>
          </a:prstGeom>
          <a:noFill/>
        </p:spPr>
        <p:txBody>
          <a:bodyPr wrap="square">
            <a:spAutoFit/>
          </a:bodyPr>
          <a:lstStyle/>
          <a:p>
            <a:r>
              <a:rPr lang="en-US" dirty="0"/>
              <a:t>This expanded log identifies the specific targeted account (</a:t>
            </a:r>
            <a:r>
              <a:rPr lang="en-US" dirty="0">
                <a:latin typeface="Courier New" panose="02070309020205020404" pitchFamily="49" charset="0"/>
              </a:rPr>
              <a:t>admin</a:t>
            </a:r>
            <a:r>
              <a:rPr lang="en-US" dirty="0"/>
              <a:t>) and the attacker's source IP address (</a:t>
            </a:r>
            <a:r>
              <a:rPr lang="en-US" dirty="0">
                <a:latin typeface="Courier New" panose="02070309020205020404" pitchFamily="49" charset="0"/>
              </a:rPr>
              <a:t>192.168.29.22</a:t>
            </a:r>
            <a:r>
              <a:rPr lang="en-US" dirty="0"/>
              <a:t>), providing the forensic link between the brute-force attempt and the Kali machine." </a:t>
            </a:r>
            <a:endParaRPr lang="en-IN" dirty="0"/>
          </a:p>
        </p:txBody>
      </p:sp>
    </p:spTree>
    <p:extLst>
      <p:ext uri="{BB962C8B-B14F-4D97-AF65-F5344CB8AC3E}">
        <p14:creationId xmlns:p14="http://schemas.microsoft.com/office/powerpoint/2010/main" val="775914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7040F-0619-2DC3-97FA-92170AF33CC4}"/>
              </a:ext>
            </a:extLst>
          </p:cNvPr>
          <p:cNvSpPr>
            <a:spLocks noGrp="1"/>
          </p:cNvSpPr>
          <p:nvPr>
            <p:ph type="title"/>
          </p:nvPr>
        </p:nvSpPr>
        <p:spPr>
          <a:xfrm>
            <a:off x="826663" y="185948"/>
            <a:ext cx="10834233" cy="612775"/>
          </a:xfrm>
        </p:spPr>
        <p:txBody>
          <a:bodyPr>
            <a:normAutofit/>
          </a:bodyPr>
          <a:lstStyle/>
          <a:p>
            <a:r>
              <a:rPr lang="en-IN" sz="2800" dirty="0"/>
              <a:t>Attack Phase 2: Privilege Escalation &amp; Persistence</a:t>
            </a:r>
          </a:p>
        </p:txBody>
      </p:sp>
      <p:pic>
        <p:nvPicPr>
          <p:cNvPr id="8" name="Content Placeholder 7">
            <a:extLst>
              <a:ext uri="{FF2B5EF4-FFF2-40B4-BE49-F238E27FC236}">
                <a16:creationId xmlns:a16="http://schemas.microsoft.com/office/drawing/2014/main" id="{F069B691-F727-8D1A-754C-125695E154D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1570943"/>
            <a:ext cx="6019800" cy="4562002"/>
          </a:xfrm>
          <a:prstGeom prst="rect">
            <a:avLst/>
          </a:prstGeom>
        </p:spPr>
      </p:pic>
      <p:pic>
        <p:nvPicPr>
          <p:cNvPr id="10" name="Content Placeholder 9">
            <a:extLst>
              <a:ext uri="{FF2B5EF4-FFF2-40B4-BE49-F238E27FC236}">
                <a16:creationId xmlns:a16="http://schemas.microsoft.com/office/drawing/2014/main" id="{D593AC1D-EFDB-5571-1BDD-0A640060BDA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570942"/>
            <a:ext cx="5872018" cy="4432693"/>
          </a:xfrm>
          <a:prstGeom prst="rect">
            <a:avLst/>
          </a:prstGeom>
        </p:spPr>
      </p:pic>
      <p:sp>
        <p:nvSpPr>
          <p:cNvPr id="6" name="TextBox 5">
            <a:extLst>
              <a:ext uri="{FF2B5EF4-FFF2-40B4-BE49-F238E27FC236}">
                <a16:creationId xmlns:a16="http://schemas.microsoft.com/office/drawing/2014/main" id="{9F1C7C79-EDC8-7DE5-46E0-3FC740CBE12D}"/>
              </a:ext>
            </a:extLst>
          </p:cNvPr>
          <p:cNvSpPr txBox="1"/>
          <p:nvPr/>
        </p:nvSpPr>
        <p:spPr>
          <a:xfrm>
            <a:off x="0" y="647613"/>
            <a:ext cx="12192000" cy="923330"/>
          </a:xfrm>
          <a:prstGeom prst="rect">
            <a:avLst/>
          </a:prstGeom>
          <a:noFill/>
        </p:spPr>
        <p:txBody>
          <a:bodyPr wrap="square" rtlCol="0">
            <a:spAutoFit/>
          </a:bodyPr>
          <a:lstStyle/>
          <a:p>
            <a:r>
              <a:rPr lang="en-US" dirty="0"/>
              <a:t>After gaining a foothold, the attacker successfully escalated privileges to create a rogue user (hacker) (</a:t>
            </a:r>
            <a:r>
              <a:rPr lang="en-US" b="1" dirty="0"/>
              <a:t>Event ID 4720</a:t>
            </a:r>
            <a:r>
              <a:rPr lang="en-US" dirty="0"/>
              <a:t>) and added it to the local Administrators group. The SIEM captured </a:t>
            </a:r>
            <a:r>
              <a:rPr lang="en-US" b="1" dirty="0"/>
              <a:t>Event ID 4732</a:t>
            </a:r>
            <a:r>
              <a:rPr lang="en-US" dirty="0"/>
              <a:t>, triggering a critical severity alert for unauthorized privilege escalation.</a:t>
            </a:r>
            <a:endParaRPr lang="en-IN" dirty="0"/>
          </a:p>
        </p:txBody>
      </p:sp>
    </p:spTree>
    <p:extLst>
      <p:ext uri="{BB962C8B-B14F-4D97-AF65-F5344CB8AC3E}">
        <p14:creationId xmlns:p14="http://schemas.microsoft.com/office/powerpoint/2010/main" val="24569837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D07A3F-7128-5CE9-9790-57CA2FAC53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9199" y="1551708"/>
            <a:ext cx="5892801" cy="4535055"/>
          </a:xfrm>
          <a:prstGeom prst="rect">
            <a:avLst/>
          </a:prstGeom>
        </p:spPr>
      </p:pic>
      <p:sp>
        <p:nvSpPr>
          <p:cNvPr id="7" name="TextBox 6">
            <a:extLst>
              <a:ext uri="{FF2B5EF4-FFF2-40B4-BE49-F238E27FC236}">
                <a16:creationId xmlns:a16="http://schemas.microsoft.com/office/drawing/2014/main" id="{8529D20C-4CC9-180A-1B21-E3DA396780D8}"/>
              </a:ext>
            </a:extLst>
          </p:cNvPr>
          <p:cNvSpPr txBox="1"/>
          <p:nvPr/>
        </p:nvSpPr>
        <p:spPr>
          <a:xfrm>
            <a:off x="-2" y="628378"/>
            <a:ext cx="12192001" cy="923330"/>
          </a:xfrm>
          <a:prstGeom prst="rect">
            <a:avLst/>
          </a:prstGeom>
          <a:noFill/>
        </p:spPr>
        <p:txBody>
          <a:bodyPr wrap="square">
            <a:spAutoFit/>
          </a:bodyPr>
          <a:lstStyle/>
          <a:p>
            <a:r>
              <a:rPr lang="en-US" dirty="0"/>
              <a:t>The local endpoint events were immediately ingested by </a:t>
            </a:r>
            <a:r>
              <a:rPr lang="en-US" dirty="0" err="1"/>
              <a:t>Wazuh</a:t>
            </a:r>
            <a:r>
              <a:rPr lang="en-US" dirty="0"/>
              <a:t>. The SIEM successfully correlated the creation of the rogue account (Event 4720) and the critical modification of the built-in Administrators group (Event 4732), triggering high-severity alerts.</a:t>
            </a:r>
            <a:endParaRPr lang="en-IN" dirty="0"/>
          </a:p>
        </p:txBody>
      </p:sp>
      <p:pic>
        <p:nvPicPr>
          <p:cNvPr id="9" name="Picture 8">
            <a:extLst>
              <a:ext uri="{FF2B5EF4-FFF2-40B4-BE49-F238E27FC236}">
                <a16:creationId xmlns:a16="http://schemas.microsoft.com/office/drawing/2014/main" id="{1EA1E438-7437-075A-C1BB-B93B488C9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551708"/>
            <a:ext cx="6096001" cy="4535055"/>
          </a:xfrm>
          <a:prstGeom prst="rect">
            <a:avLst/>
          </a:prstGeom>
        </p:spPr>
      </p:pic>
      <p:sp>
        <p:nvSpPr>
          <p:cNvPr id="2" name="Title 1">
            <a:extLst>
              <a:ext uri="{FF2B5EF4-FFF2-40B4-BE49-F238E27FC236}">
                <a16:creationId xmlns:a16="http://schemas.microsoft.com/office/drawing/2014/main" id="{5B0958D1-88D8-7AA3-C3E6-7300E430D484}"/>
              </a:ext>
            </a:extLst>
          </p:cNvPr>
          <p:cNvSpPr txBox="1">
            <a:spLocks/>
          </p:cNvSpPr>
          <p:nvPr/>
        </p:nvSpPr>
        <p:spPr>
          <a:xfrm>
            <a:off x="3435926" y="207818"/>
            <a:ext cx="5726546" cy="563419"/>
          </a:xfrm>
          <a:prstGeom prst="rect">
            <a:avLst/>
          </a:prstGeom>
        </p:spPr>
        <p:txBody>
          <a:bodyPr>
            <a:norm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r>
              <a:rPr lang="en-IN" sz="2800" dirty="0"/>
              <a:t>SIEM Correlation: Privilege Escalation</a:t>
            </a:r>
          </a:p>
        </p:txBody>
      </p:sp>
    </p:spTree>
    <p:extLst>
      <p:ext uri="{BB962C8B-B14F-4D97-AF65-F5344CB8AC3E}">
        <p14:creationId xmlns:p14="http://schemas.microsoft.com/office/powerpoint/2010/main" val="56840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D64A-89BC-35A8-81C3-12B004BF35BC}"/>
              </a:ext>
            </a:extLst>
          </p:cNvPr>
          <p:cNvSpPr>
            <a:spLocks noGrp="1"/>
          </p:cNvSpPr>
          <p:nvPr>
            <p:ph type="title"/>
          </p:nvPr>
        </p:nvSpPr>
        <p:spPr>
          <a:xfrm>
            <a:off x="679450" y="209223"/>
            <a:ext cx="10834233" cy="612775"/>
          </a:xfrm>
        </p:spPr>
        <p:txBody>
          <a:bodyPr/>
          <a:lstStyle/>
          <a:p>
            <a:r>
              <a:rPr lang="en-US" dirty="0"/>
              <a:t>Attack Phase 3: Defense Evasion via PowerShell</a:t>
            </a:r>
            <a:endParaRPr lang="en-IN" b="0" dirty="0"/>
          </a:p>
        </p:txBody>
      </p:sp>
      <p:pic>
        <p:nvPicPr>
          <p:cNvPr id="8" name="Content Placeholder 7">
            <a:extLst>
              <a:ext uri="{FF2B5EF4-FFF2-40B4-BE49-F238E27FC236}">
                <a16:creationId xmlns:a16="http://schemas.microsoft.com/office/drawing/2014/main" id="{86E0D64C-109E-8BC0-0B36-671E54C754F0}"/>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0" y="2054278"/>
            <a:ext cx="6019800" cy="3669850"/>
          </a:xfrm>
          <a:prstGeom prst="rect">
            <a:avLst/>
          </a:prstGeom>
        </p:spPr>
      </p:pic>
      <p:pic>
        <p:nvPicPr>
          <p:cNvPr id="10" name="Content Placeholder 9">
            <a:extLst>
              <a:ext uri="{FF2B5EF4-FFF2-40B4-BE49-F238E27FC236}">
                <a16:creationId xmlns:a16="http://schemas.microsoft.com/office/drawing/2014/main" id="{65C1F7A2-891F-9B28-896F-E3A59406B41B}"/>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199" y="2054279"/>
            <a:ext cx="5881255" cy="3695594"/>
          </a:xfrm>
          <a:prstGeom prst="rect">
            <a:avLst/>
          </a:prstGeom>
        </p:spPr>
      </p:pic>
      <p:sp>
        <p:nvSpPr>
          <p:cNvPr id="6" name="TextBox 5">
            <a:extLst>
              <a:ext uri="{FF2B5EF4-FFF2-40B4-BE49-F238E27FC236}">
                <a16:creationId xmlns:a16="http://schemas.microsoft.com/office/drawing/2014/main" id="{EACC8251-5BC6-80E6-8031-03C5FCF2C1BE}"/>
              </a:ext>
            </a:extLst>
          </p:cNvPr>
          <p:cNvSpPr txBox="1"/>
          <p:nvPr/>
        </p:nvSpPr>
        <p:spPr>
          <a:xfrm>
            <a:off x="0" y="976473"/>
            <a:ext cx="12192000" cy="923330"/>
          </a:xfrm>
          <a:prstGeom prst="rect">
            <a:avLst/>
          </a:prstGeom>
          <a:noFill/>
        </p:spPr>
        <p:txBody>
          <a:bodyPr wrap="square">
            <a:spAutoFit/>
          </a:bodyPr>
          <a:lstStyle/>
          <a:p>
            <a:r>
              <a:rPr lang="en-US" dirty="0"/>
              <a:t>To execute payloads without interference from local execution policies, the attacker utilized PowerShell bypass techniques. Command Line Auditing captured </a:t>
            </a:r>
            <a:r>
              <a:rPr lang="en-US" b="1" dirty="0"/>
              <a:t>Event ID 4688</a:t>
            </a:r>
            <a:r>
              <a:rPr lang="en-US" dirty="0"/>
              <a:t>. The SIEM successfully correlated the </a:t>
            </a:r>
            <a:r>
              <a:rPr lang="en-US" dirty="0">
                <a:latin typeface="Courier New" panose="02070309020205020404" pitchFamily="49" charset="0"/>
              </a:rPr>
              <a:t>powershell.exe</a:t>
            </a:r>
            <a:r>
              <a:rPr lang="en-US" dirty="0"/>
              <a:t> process with the explicit flags </a:t>
            </a:r>
            <a:r>
              <a:rPr lang="en-US" dirty="0">
                <a:latin typeface="Courier New" panose="02070309020205020404" pitchFamily="49" charset="0"/>
              </a:rPr>
              <a:t>-</a:t>
            </a:r>
            <a:r>
              <a:rPr lang="en-US" dirty="0" err="1">
                <a:latin typeface="Courier New" panose="02070309020205020404" pitchFamily="49" charset="0"/>
              </a:rPr>
              <a:t>ExecutionPolicy</a:t>
            </a:r>
            <a:r>
              <a:rPr lang="en-US" dirty="0">
                <a:latin typeface="Courier New" panose="02070309020205020404" pitchFamily="49" charset="0"/>
              </a:rPr>
              <a:t> Bypass -</a:t>
            </a:r>
            <a:r>
              <a:rPr lang="en-US" dirty="0" err="1">
                <a:latin typeface="Courier New" panose="02070309020205020404" pitchFamily="49" charset="0"/>
              </a:rPr>
              <a:t>NoProfile</a:t>
            </a:r>
            <a:r>
              <a:rPr lang="en-US" dirty="0"/>
              <a:t>.</a:t>
            </a:r>
            <a:endParaRPr lang="en-IN" dirty="0"/>
          </a:p>
        </p:txBody>
      </p:sp>
    </p:spTree>
    <p:extLst>
      <p:ext uri="{BB962C8B-B14F-4D97-AF65-F5344CB8AC3E}">
        <p14:creationId xmlns:p14="http://schemas.microsoft.com/office/powerpoint/2010/main" val="1861570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3A885-27C3-5995-DBD9-5A98060C3BDF}"/>
              </a:ext>
            </a:extLst>
          </p:cNvPr>
          <p:cNvSpPr>
            <a:spLocks noGrp="1"/>
          </p:cNvSpPr>
          <p:nvPr>
            <p:ph type="title"/>
          </p:nvPr>
        </p:nvSpPr>
        <p:spPr>
          <a:xfrm>
            <a:off x="678881" y="185948"/>
            <a:ext cx="10834233" cy="612775"/>
          </a:xfrm>
        </p:spPr>
        <p:txBody>
          <a:bodyPr/>
          <a:lstStyle/>
          <a:p>
            <a:r>
              <a:rPr lang="en-US" dirty="0"/>
              <a:t>Attack Phase 4: File Integrity Monitoring (FIM)</a:t>
            </a:r>
            <a:endParaRPr lang="en-IN" dirty="0"/>
          </a:p>
        </p:txBody>
      </p:sp>
      <p:pic>
        <p:nvPicPr>
          <p:cNvPr id="8" name="Content Placeholder 7">
            <a:extLst>
              <a:ext uri="{FF2B5EF4-FFF2-40B4-BE49-F238E27FC236}">
                <a16:creationId xmlns:a16="http://schemas.microsoft.com/office/drawing/2014/main" id="{89E0EECC-A8C0-1D8F-C0EF-E6B633720F17}"/>
              </a:ext>
            </a:extLst>
          </p:cNvPr>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679450" y="2234010"/>
            <a:ext cx="5340350" cy="3337718"/>
          </a:xfrm>
          <a:prstGeom prst="rect">
            <a:avLst/>
          </a:prstGeom>
        </p:spPr>
      </p:pic>
      <p:pic>
        <p:nvPicPr>
          <p:cNvPr id="10" name="Content Placeholder 9">
            <a:extLst>
              <a:ext uri="{FF2B5EF4-FFF2-40B4-BE49-F238E27FC236}">
                <a16:creationId xmlns:a16="http://schemas.microsoft.com/office/drawing/2014/main" id="{D46C70EE-C09D-446D-1080-9DC3089DF71F}"/>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172200" y="2208265"/>
            <a:ext cx="5340350" cy="3389207"/>
          </a:xfrm>
          <a:prstGeom prst="rect">
            <a:avLst/>
          </a:prstGeom>
        </p:spPr>
      </p:pic>
      <p:sp>
        <p:nvSpPr>
          <p:cNvPr id="6" name="TextBox 5">
            <a:extLst>
              <a:ext uri="{FF2B5EF4-FFF2-40B4-BE49-F238E27FC236}">
                <a16:creationId xmlns:a16="http://schemas.microsoft.com/office/drawing/2014/main" id="{1FB549F7-9687-4FF2-4EB1-B06E08F26BFC}"/>
              </a:ext>
            </a:extLst>
          </p:cNvPr>
          <p:cNvSpPr txBox="1"/>
          <p:nvPr/>
        </p:nvSpPr>
        <p:spPr>
          <a:xfrm>
            <a:off x="41560" y="736505"/>
            <a:ext cx="12108873" cy="923330"/>
          </a:xfrm>
          <a:prstGeom prst="rect">
            <a:avLst/>
          </a:prstGeom>
          <a:noFill/>
        </p:spPr>
        <p:txBody>
          <a:bodyPr wrap="square">
            <a:spAutoFit/>
          </a:bodyPr>
          <a:lstStyle/>
          <a:p>
            <a:r>
              <a:rPr lang="en-US" dirty="0" err="1"/>
              <a:t>Wazuh’s</a:t>
            </a:r>
            <a:r>
              <a:rPr lang="en-US" dirty="0"/>
              <a:t> File Integrity Monitoring (</a:t>
            </a:r>
            <a:r>
              <a:rPr lang="en-US" dirty="0" err="1"/>
              <a:t>Syscheck</a:t>
            </a:r>
            <a:r>
              <a:rPr lang="en-US" dirty="0"/>
              <a:t>) actively monitored the </a:t>
            </a:r>
            <a:r>
              <a:rPr lang="en-US" dirty="0">
                <a:latin typeface="Courier New" panose="02070309020205020404" pitchFamily="49" charset="0"/>
              </a:rPr>
              <a:t>C:\Users\admin\Hackers</a:t>
            </a:r>
            <a:r>
              <a:rPr lang="en-US" dirty="0"/>
              <a:t> directory. The SIEM dashboard provided a correlated timeline of the attacker adding, modifying, and deleting text files, demonstrating the immediate impact on endpoint integrity.</a:t>
            </a:r>
            <a:endParaRPr lang="en-IN" dirty="0"/>
          </a:p>
        </p:txBody>
      </p:sp>
    </p:spTree>
    <p:extLst>
      <p:ext uri="{BB962C8B-B14F-4D97-AF65-F5344CB8AC3E}">
        <p14:creationId xmlns:p14="http://schemas.microsoft.com/office/powerpoint/2010/main" val="1528621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353244-480B-9A12-49F8-09DEB318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6218"/>
            <a:ext cx="12192000" cy="4775199"/>
          </a:xfrm>
          <a:prstGeom prst="rect">
            <a:avLst/>
          </a:prstGeom>
        </p:spPr>
      </p:pic>
      <p:sp>
        <p:nvSpPr>
          <p:cNvPr id="7" name="TextBox 6">
            <a:extLst>
              <a:ext uri="{FF2B5EF4-FFF2-40B4-BE49-F238E27FC236}">
                <a16:creationId xmlns:a16="http://schemas.microsoft.com/office/drawing/2014/main" id="{C9C01CE0-BBE0-7E5A-6575-8ADDCFED1EB8}"/>
              </a:ext>
            </a:extLst>
          </p:cNvPr>
          <p:cNvSpPr txBox="1"/>
          <p:nvPr/>
        </p:nvSpPr>
        <p:spPr>
          <a:xfrm>
            <a:off x="147782" y="143409"/>
            <a:ext cx="12044218" cy="923330"/>
          </a:xfrm>
          <a:prstGeom prst="rect">
            <a:avLst/>
          </a:prstGeom>
          <a:noFill/>
        </p:spPr>
        <p:txBody>
          <a:bodyPr wrap="square">
            <a:spAutoFit/>
          </a:bodyPr>
          <a:lstStyle/>
          <a:p>
            <a:r>
              <a:rPr lang="en-US" dirty="0" err="1"/>
              <a:t>Wazuh</a:t>
            </a:r>
            <a:r>
              <a:rPr lang="en-US" dirty="0"/>
              <a:t> successfully captured a detailed timeline of the file manipulations. The SIEM logged the exact timestamps and file paths (e.g., </a:t>
            </a:r>
            <a:r>
              <a:rPr lang="en-US" dirty="0">
                <a:latin typeface="Courier New" panose="02070309020205020404" pitchFamily="49" charset="0"/>
              </a:rPr>
              <a:t>test-03.txt</a:t>
            </a:r>
            <a:r>
              <a:rPr lang="en-US" dirty="0"/>
              <a:t>, </a:t>
            </a:r>
            <a:r>
              <a:rPr lang="en-US" dirty="0">
                <a:latin typeface="Courier New" panose="02070309020205020404" pitchFamily="49" charset="0"/>
              </a:rPr>
              <a:t>new text document.txt</a:t>
            </a:r>
            <a:r>
              <a:rPr lang="en-US" dirty="0"/>
              <a:t>) for every "added", "modified", and "deleted" action, providing clear forensic evidence of the attacker's impact on the system.</a:t>
            </a:r>
            <a:endParaRPr lang="en-IN" dirty="0"/>
          </a:p>
        </p:txBody>
      </p:sp>
    </p:spTree>
    <p:extLst>
      <p:ext uri="{BB962C8B-B14F-4D97-AF65-F5344CB8AC3E}">
        <p14:creationId xmlns:p14="http://schemas.microsoft.com/office/powerpoint/2010/main" val="277839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F03838-4AD8-9347-470C-0773B113B24E}"/>
              </a:ext>
            </a:extLst>
          </p:cNvPr>
          <p:cNvSpPr>
            <a:spLocks noGrp="1"/>
          </p:cNvSpPr>
          <p:nvPr>
            <p:ph idx="1"/>
          </p:nvPr>
        </p:nvSpPr>
        <p:spPr>
          <a:xfrm>
            <a:off x="4147128" y="1302327"/>
            <a:ext cx="8044872" cy="4441537"/>
          </a:xfrm>
        </p:spPr>
        <p:txBody>
          <a:bodyPr>
            <a:normAutofit fontScale="85000" lnSpcReduction="10000"/>
          </a:bodyPr>
          <a:lstStyle/>
          <a:p>
            <a:r>
              <a:rPr lang="en-US" b="1" dirty="0"/>
              <a:t>Contextualizing Noise:</a:t>
            </a:r>
            <a:r>
              <a:rPr lang="en-US" dirty="0"/>
              <a:t> Raw logs are noisy. An isolated failed logon (4625) has low impact. Correlating multiple failed logons to a subsequent User Creation event (4720) flags a high-impact compromise, prioritizing triage.</a:t>
            </a:r>
          </a:p>
          <a:p>
            <a:endParaRPr lang="en-US" dirty="0"/>
          </a:p>
          <a:p>
            <a:r>
              <a:rPr lang="en-US" b="1" dirty="0"/>
              <a:t>Tracing the Kill Chain:</a:t>
            </a:r>
            <a:r>
              <a:rPr lang="en-US" dirty="0"/>
              <a:t> By linking network authentication logs to local process creation logs, the SOC can determine the exact scope of the breach and prevent lateral movement.</a:t>
            </a:r>
          </a:p>
          <a:p>
            <a:endParaRPr lang="en-US" dirty="0"/>
          </a:p>
          <a:p>
            <a:r>
              <a:rPr lang="en-US" b="1" dirty="0"/>
              <a:t>Reducing Dwell Time:</a:t>
            </a:r>
            <a:r>
              <a:rPr lang="en-US" dirty="0"/>
              <a:t> Automated correlation rules reduce the time an attacker resides undetected. Rapid correlation of the Administrator group modification (4732) allows for immediate account suspension before data exfiltration.</a:t>
            </a:r>
          </a:p>
          <a:p>
            <a:endParaRPr lang="en-IN" dirty="0"/>
          </a:p>
        </p:txBody>
      </p:sp>
      <p:sp>
        <p:nvSpPr>
          <p:cNvPr id="3" name="Title 2">
            <a:extLst>
              <a:ext uri="{FF2B5EF4-FFF2-40B4-BE49-F238E27FC236}">
                <a16:creationId xmlns:a16="http://schemas.microsoft.com/office/drawing/2014/main" id="{584631CC-767D-66AA-EBFA-1EDD9DD197B8}"/>
              </a:ext>
            </a:extLst>
          </p:cNvPr>
          <p:cNvSpPr>
            <a:spLocks noGrp="1"/>
          </p:cNvSpPr>
          <p:nvPr>
            <p:ph type="title"/>
          </p:nvPr>
        </p:nvSpPr>
        <p:spPr>
          <a:xfrm>
            <a:off x="387927" y="2049670"/>
            <a:ext cx="3193475" cy="2562226"/>
          </a:xfrm>
        </p:spPr>
        <p:txBody>
          <a:bodyPr/>
          <a:lstStyle/>
          <a:p>
            <a:r>
              <a:rPr lang="en-IN" dirty="0"/>
              <a:t>Impact Analysis</a:t>
            </a:r>
          </a:p>
        </p:txBody>
      </p:sp>
      <p:sp>
        <p:nvSpPr>
          <p:cNvPr id="7" name="Title 1">
            <a:extLst>
              <a:ext uri="{FF2B5EF4-FFF2-40B4-BE49-F238E27FC236}">
                <a16:creationId xmlns:a16="http://schemas.microsoft.com/office/drawing/2014/main" id="{732EBCE2-9B3B-1323-F1B6-19990358A1EE}"/>
              </a:ext>
            </a:extLst>
          </p:cNvPr>
          <p:cNvSpPr txBox="1">
            <a:spLocks/>
          </p:cNvSpPr>
          <p:nvPr/>
        </p:nvSpPr>
        <p:spPr>
          <a:xfrm>
            <a:off x="4304146" y="84348"/>
            <a:ext cx="7887854"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bg1"/>
                </a:solidFill>
                <a:latin typeface="Calibri" panose="020F0502020204030204" pitchFamily="34" charset="0"/>
                <a:ea typeface="+mj-ea"/>
                <a:cs typeface="+mj-cs"/>
              </a:defRPr>
            </a:lvl1pPr>
          </a:lstStyle>
          <a:p>
            <a:r>
              <a:rPr lang="en-US" dirty="0">
                <a:solidFill>
                  <a:schemeClr val="tx1"/>
                </a:solidFill>
              </a:rPr>
              <a:t>Impact Analysis of Alert Correlation</a:t>
            </a:r>
            <a:endParaRPr lang="en-IN" dirty="0">
              <a:solidFill>
                <a:schemeClr val="tx1"/>
              </a:solidFill>
            </a:endParaRPr>
          </a:p>
        </p:txBody>
      </p:sp>
    </p:spTree>
    <p:extLst>
      <p:ext uri="{BB962C8B-B14F-4D97-AF65-F5344CB8AC3E}">
        <p14:creationId xmlns:p14="http://schemas.microsoft.com/office/powerpoint/2010/main" val="4278189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83AAD-DF72-14E6-0A46-B2C5FEF2EB67}"/>
              </a:ext>
            </a:extLst>
          </p:cNvPr>
          <p:cNvSpPr>
            <a:spLocks noGrp="1"/>
          </p:cNvSpPr>
          <p:nvPr>
            <p:ph type="title"/>
          </p:nvPr>
        </p:nvSpPr>
        <p:spPr/>
        <p:txBody>
          <a:bodyPr/>
          <a:lstStyle/>
          <a:p>
            <a:r>
              <a:rPr lang="en-IN" dirty="0"/>
              <a:t>Tuning &amp; False Positives</a:t>
            </a:r>
          </a:p>
        </p:txBody>
      </p:sp>
      <p:sp>
        <p:nvSpPr>
          <p:cNvPr id="3" name="Content Placeholder 2">
            <a:extLst>
              <a:ext uri="{FF2B5EF4-FFF2-40B4-BE49-F238E27FC236}">
                <a16:creationId xmlns:a16="http://schemas.microsoft.com/office/drawing/2014/main" id="{AC1B91A8-A6B8-D1D7-C3AC-97700FF41672}"/>
              </a:ext>
            </a:extLst>
          </p:cNvPr>
          <p:cNvSpPr>
            <a:spLocks noGrp="1"/>
          </p:cNvSpPr>
          <p:nvPr>
            <p:ph idx="1"/>
          </p:nvPr>
        </p:nvSpPr>
        <p:spPr>
          <a:xfrm>
            <a:off x="-1" y="1659835"/>
            <a:ext cx="8007927" cy="4398066"/>
          </a:xfrm>
        </p:spPr>
        <p:txBody>
          <a:bodyPr>
            <a:normAutofit fontScale="70000" lnSpcReduction="20000"/>
          </a:bodyPr>
          <a:lstStyle/>
          <a:p>
            <a:r>
              <a:rPr lang="en-US" dirty="0"/>
              <a:t>To optimize the SIEM and reduce alert fatigue, the following measures are recommended:</a:t>
            </a:r>
          </a:p>
          <a:p>
            <a:endParaRPr lang="en-US" dirty="0"/>
          </a:p>
          <a:p>
            <a:r>
              <a:rPr lang="en-US" b="1" dirty="0"/>
              <a:t>Tuning Brute Force Alerts (4625):</a:t>
            </a:r>
            <a:r>
              <a:rPr lang="en-US" dirty="0"/>
              <a:t> Adjust the correlation threshold to trigger only if &gt;15 failures occur within a 3-minute window from the same source IP, filtering out standard typing errors.</a:t>
            </a:r>
          </a:p>
          <a:p>
            <a:endParaRPr lang="en-US" dirty="0"/>
          </a:p>
          <a:p>
            <a:r>
              <a:rPr lang="en-US" b="1" dirty="0"/>
              <a:t>Filtering Process Creation (4688):</a:t>
            </a:r>
            <a:r>
              <a:rPr lang="en-US" dirty="0"/>
              <a:t> Create child rules that only trigger high-severity alerts when 4688 is accompanied by suspicious arguments (e.g., ep bypass, Hidden) while whitelisting known updater services.</a:t>
            </a:r>
          </a:p>
          <a:p>
            <a:endParaRPr lang="en-US" dirty="0"/>
          </a:p>
          <a:p>
            <a:r>
              <a:rPr lang="en-US" b="1" dirty="0"/>
              <a:t>FIM Exclusions:</a:t>
            </a:r>
            <a:r>
              <a:rPr lang="en-US" dirty="0"/>
              <a:t> Tune the </a:t>
            </a:r>
            <a:r>
              <a:rPr lang="en-US" dirty="0" err="1"/>
              <a:t>syscheck</a:t>
            </a:r>
            <a:r>
              <a:rPr lang="en-US" dirty="0"/>
              <a:t> rule to ignore highly volatile directories like C:\\Windows\\Temp to prevent dashboard flooding, focusing strictly on critical user directories and registry keys.</a:t>
            </a:r>
          </a:p>
          <a:p>
            <a:endParaRPr lang="en-IN" dirty="0"/>
          </a:p>
        </p:txBody>
      </p:sp>
      <p:sp>
        <p:nvSpPr>
          <p:cNvPr id="5" name="TextBox 4">
            <a:extLst>
              <a:ext uri="{FF2B5EF4-FFF2-40B4-BE49-F238E27FC236}">
                <a16:creationId xmlns:a16="http://schemas.microsoft.com/office/drawing/2014/main" id="{9F83CC95-90BF-012F-1082-702B1D5C19BF}"/>
              </a:ext>
            </a:extLst>
          </p:cNvPr>
          <p:cNvSpPr txBox="1"/>
          <p:nvPr/>
        </p:nvSpPr>
        <p:spPr>
          <a:xfrm>
            <a:off x="8478983" y="3094243"/>
            <a:ext cx="3648362" cy="1034129"/>
          </a:xfrm>
          <a:prstGeom prst="rect">
            <a:avLst/>
          </a:prstGeom>
          <a:noFill/>
        </p:spPr>
        <p:txBody>
          <a:bodyPr wrap="square">
            <a:spAutoFit/>
          </a:bodyPr>
          <a:lstStyle/>
          <a:p>
            <a:pPr>
              <a:lnSpc>
                <a:spcPct val="90000"/>
              </a:lnSpc>
              <a:spcBef>
                <a:spcPct val="0"/>
              </a:spcBef>
            </a:pPr>
            <a:r>
              <a:rPr lang="en-IN" sz="3400" b="1" dirty="0">
                <a:solidFill>
                  <a:schemeClr val="bg1"/>
                </a:solidFill>
                <a:latin typeface="Calibri" panose="020F0502020204030204" pitchFamily="34" charset="0"/>
                <a:ea typeface="+mj-ea"/>
                <a:cs typeface="+mj-cs"/>
              </a:rPr>
              <a:t>Alert Tuning Recommendations</a:t>
            </a:r>
          </a:p>
        </p:txBody>
      </p:sp>
    </p:spTree>
    <p:extLst>
      <p:ext uri="{BB962C8B-B14F-4D97-AF65-F5344CB8AC3E}">
        <p14:creationId xmlns:p14="http://schemas.microsoft.com/office/powerpoint/2010/main" val="2056971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B838-0802-205C-237D-57FB796DA52C}"/>
              </a:ext>
            </a:extLst>
          </p:cNvPr>
          <p:cNvSpPr>
            <a:spLocks noGrp="1"/>
          </p:cNvSpPr>
          <p:nvPr>
            <p:ph type="title"/>
          </p:nvPr>
        </p:nvSpPr>
        <p:spPr/>
        <p:txBody>
          <a:bodyPr/>
          <a:lstStyle/>
          <a:p>
            <a:r>
              <a:rPr lang="en-IN" dirty="0"/>
              <a:t>Thoughts &amp; Project Conclusion</a:t>
            </a:r>
          </a:p>
        </p:txBody>
      </p:sp>
      <p:sp>
        <p:nvSpPr>
          <p:cNvPr id="3" name="Content Placeholder 2">
            <a:extLst>
              <a:ext uri="{FF2B5EF4-FFF2-40B4-BE49-F238E27FC236}">
                <a16:creationId xmlns:a16="http://schemas.microsoft.com/office/drawing/2014/main" id="{527D03F1-7913-E499-352F-E08CD156BA9F}"/>
              </a:ext>
            </a:extLst>
          </p:cNvPr>
          <p:cNvSpPr>
            <a:spLocks noGrp="1"/>
          </p:cNvSpPr>
          <p:nvPr>
            <p:ph idx="1"/>
          </p:nvPr>
        </p:nvSpPr>
        <p:spPr>
          <a:xfrm>
            <a:off x="73891" y="1659835"/>
            <a:ext cx="7666181" cy="4398066"/>
          </a:xfrm>
        </p:spPr>
        <p:txBody>
          <a:bodyPr>
            <a:normAutofit fontScale="92500" lnSpcReduction="20000"/>
          </a:bodyPr>
          <a:lstStyle/>
          <a:p>
            <a:r>
              <a:rPr lang="en-US" dirty="0"/>
              <a:t>Implementing a SIEM is only the first step; the true value of a SOC lies in </a:t>
            </a:r>
            <a:r>
              <a:rPr lang="en-US" b="1" dirty="0"/>
              <a:t>logical correlation</a:t>
            </a:r>
            <a:r>
              <a:rPr lang="en-US" dirty="0"/>
              <a:t>.</a:t>
            </a:r>
          </a:p>
          <a:p>
            <a:endParaRPr lang="en-US" dirty="0"/>
          </a:p>
          <a:p>
            <a:r>
              <a:rPr lang="en-US" dirty="0"/>
              <a:t>By successfully mapping raw, isolated Windows Event logs to a centralized </a:t>
            </a:r>
            <a:r>
              <a:rPr lang="en-US" dirty="0" err="1"/>
              <a:t>Wazuh</a:t>
            </a:r>
            <a:r>
              <a:rPr lang="en-US" dirty="0"/>
              <a:t> dashboard, this project demonstrated how analysts transform raw data into actionable threat intelligence.</a:t>
            </a:r>
          </a:p>
          <a:p>
            <a:endParaRPr lang="en-US" dirty="0"/>
          </a:p>
          <a:p>
            <a:r>
              <a:rPr lang="en-US" dirty="0"/>
              <a:t>Moving forward, continuous tuning of correlation rules (like FIM exclusions and Brute Force thresholds) is critical to maintaining visibility while preventing SOC analyst burnout from false positives.</a:t>
            </a:r>
          </a:p>
          <a:p>
            <a:endParaRPr lang="en-IN" dirty="0"/>
          </a:p>
        </p:txBody>
      </p:sp>
      <p:sp>
        <p:nvSpPr>
          <p:cNvPr id="5" name="TextBox 4">
            <a:extLst>
              <a:ext uri="{FF2B5EF4-FFF2-40B4-BE49-F238E27FC236}">
                <a16:creationId xmlns:a16="http://schemas.microsoft.com/office/drawing/2014/main" id="{6CFC53BB-AF9A-5728-8009-7E205D268937}"/>
              </a:ext>
            </a:extLst>
          </p:cNvPr>
          <p:cNvSpPr txBox="1"/>
          <p:nvPr/>
        </p:nvSpPr>
        <p:spPr>
          <a:xfrm>
            <a:off x="9252018" y="5026952"/>
            <a:ext cx="2492009" cy="563231"/>
          </a:xfrm>
          <a:prstGeom prst="rect">
            <a:avLst/>
          </a:prstGeom>
          <a:noFill/>
        </p:spPr>
        <p:txBody>
          <a:bodyPr wrap="square">
            <a:spAutoFit/>
          </a:bodyPr>
          <a:lstStyle/>
          <a:p>
            <a:pPr>
              <a:lnSpc>
                <a:spcPct val="90000"/>
              </a:lnSpc>
              <a:spcBef>
                <a:spcPct val="0"/>
              </a:spcBef>
            </a:pPr>
            <a:r>
              <a:rPr lang="en-IN" sz="3400" b="1" dirty="0">
                <a:solidFill>
                  <a:schemeClr val="bg1"/>
                </a:solidFill>
                <a:latin typeface="Calibri" panose="020F0502020204030204" pitchFamily="34" charset="0"/>
                <a:ea typeface="+mj-ea"/>
                <a:cs typeface="+mj-cs"/>
              </a:rPr>
              <a:t>Conclusion</a:t>
            </a:r>
          </a:p>
        </p:txBody>
      </p:sp>
    </p:spTree>
    <p:extLst>
      <p:ext uri="{BB962C8B-B14F-4D97-AF65-F5344CB8AC3E}">
        <p14:creationId xmlns:p14="http://schemas.microsoft.com/office/powerpoint/2010/main" val="482937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9FC318F-4795-B030-CD35-4EDF3C774E78}"/>
              </a:ext>
            </a:extLst>
          </p:cNvPr>
          <p:cNvSpPr>
            <a:spLocks noGrp="1"/>
          </p:cNvSpPr>
          <p:nvPr>
            <p:ph type="title"/>
          </p:nvPr>
        </p:nvSpPr>
        <p:spPr/>
        <p:txBody>
          <a:bodyPr/>
          <a:lstStyle/>
          <a:p>
            <a:r>
              <a:rPr lang="en-IN" dirty="0"/>
              <a:t>References</a:t>
            </a:r>
          </a:p>
        </p:txBody>
      </p:sp>
      <p:sp>
        <p:nvSpPr>
          <p:cNvPr id="4" name="Title 1">
            <a:extLst>
              <a:ext uri="{FF2B5EF4-FFF2-40B4-BE49-F238E27FC236}">
                <a16:creationId xmlns:a16="http://schemas.microsoft.com/office/drawing/2014/main" id="{E2E75553-E233-65B5-1068-11E41BA3FD62}"/>
              </a:ext>
            </a:extLst>
          </p:cNvPr>
          <p:cNvSpPr txBox="1">
            <a:spLocks/>
          </p:cNvSpPr>
          <p:nvPr/>
        </p:nvSpPr>
        <p:spPr>
          <a:xfrm>
            <a:off x="4567390" y="0"/>
            <a:ext cx="7624610" cy="612775"/>
          </a:xfrm>
          <a:prstGeom prst="rect">
            <a:avLst/>
          </a:prstGeom>
        </p:spPr>
        <p:txBody>
          <a:bodyPr vert="horz" lIns="0" tIns="0" rIns="0" bIns="0" rtlCol="0" anchor="ctr">
            <a:normAutofit/>
          </a:bodyPr>
          <a:lstStyle>
            <a:lvl1pPr algn="l" defTabSz="914400" rtl="0" eaLnBrk="1" latinLnBrk="0" hangingPunct="1">
              <a:lnSpc>
                <a:spcPct val="90000"/>
              </a:lnSpc>
              <a:spcBef>
                <a:spcPct val="0"/>
              </a:spcBef>
              <a:buNone/>
              <a:defRPr sz="3400" b="1" kern="1200">
                <a:solidFill>
                  <a:schemeClr val="bg1"/>
                </a:solidFill>
                <a:latin typeface="Calibri" panose="020F0502020204030204" pitchFamily="34" charset="0"/>
                <a:ea typeface="+mj-ea"/>
                <a:cs typeface="+mj-cs"/>
              </a:defRPr>
            </a:lvl1pPr>
          </a:lstStyle>
          <a:p>
            <a:pPr>
              <a:lnSpc>
                <a:spcPct val="110000"/>
              </a:lnSpc>
            </a:pPr>
            <a:r>
              <a:rPr lang="en-IN" dirty="0">
                <a:solidFill>
                  <a:schemeClr val="tx1"/>
                </a:solidFill>
              </a:rPr>
              <a:t>References &amp; Methodology</a:t>
            </a:r>
          </a:p>
        </p:txBody>
      </p:sp>
      <p:sp>
        <p:nvSpPr>
          <p:cNvPr id="5" name="Rectangle 1">
            <a:extLst>
              <a:ext uri="{FF2B5EF4-FFF2-40B4-BE49-F238E27FC236}">
                <a16:creationId xmlns:a16="http://schemas.microsoft.com/office/drawing/2014/main" id="{11360F1A-A3E2-03C0-EBC5-EFEAC1FDB0EF}"/>
              </a:ext>
            </a:extLst>
          </p:cNvPr>
          <p:cNvSpPr>
            <a:spLocks noGrp="1" noChangeArrowheads="1"/>
          </p:cNvSpPr>
          <p:nvPr>
            <p:ph idx="1"/>
          </p:nvPr>
        </p:nvSpPr>
        <p:spPr bwMode="auto">
          <a:xfrm>
            <a:off x="4138367" y="612775"/>
            <a:ext cx="805363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SIEM Documentation: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Wazuh</a:t>
            </a:r>
            <a:r>
              <a:rPr kumimoji="0" lang="en-US" altLang="en-US" sz="1800" b="0" i="0" u="none" strike="noStrike" cap="none" normalizeH="0" baseline="0" dirty="0">
                <a:ln>
                  <a:noFill/>
                </a:ln>
                <a:solidFill>
                  <a:schemeClr val="tx1"/>
                </a:solidFill>
                <a:effectLst/>
                <a:latin typeface="Arial" panose="020B0604020202020204" pitchFamily="34" charset="0"/>
              </a:rPr>
              <a:t> Official Documentation (Log Data Collection, </a:t>
            </a:r>
            <a:r>
              <a:rPr kumimoji="0" lang="en-US" altLang="en-US" sz="1800" b="0" i="0" u="none" strike="noStrike" cap="none" normalizeH="0" baseline="0" dirty="0" err="1">
                <a:ln>
                  <a:noFill/>
                </a:ln>
                <a:solidFill>
                  <a:schemeClr val="tx1"/>
                </a:solidFill>
                <a:effectLst/>
                <a:latin typeface="Arial" panose="020B0604020202020204" pitchFamily="34" charset="0"/>
              </a:rPr>
              <a:t>Syscheck</a:t>
            </a:r>
            <a:r>
              <a:rPr kumimoji="0" lang="en-US" altLang="en-US" sz="1800" b="0" i="0" u="none" strike="noStrike" cap="none" normalizeH="0" baseline="0" dirty="0">
                <a:ln>
                  <a:noFill/>
                </a:ln>
                <a:solidFill>
                  <a:schemeClr val="tx1"/>
                </a:solidFill>
                <a:effectLst/>
                <a:latin typeface="Arial" panose="020B0604020202020204" pitchFamily="34" charset="0"/>
              </a:rPr>
              <a:t>).</a:t>
            </a:r>
          </a:p>
          <a:p>
            <a:pPr eaLnBrk="0" fontAlgn="base" hangingPunct="0">
              <a:lnSpc>
                <a:spcPct val="100000"/>
              </a:lnSpc>
              <a:spcBef>
                <a:spcPct val="0"/>
              </a:spcBef>
              <a:spcAft>
                <a:spcPct val="0"/>
              </a:spcAft>
            </a:pPr>
            <a:r>
              <a:rPr kumimoji="0" lang="en-US" altLang="en-US" sz="1800" b="1" i="0" u="none" strike="noStrike" cap="none" normalizeH="0" baseline="0" dirty="0">
                <a:ln>
                  <a:noFill/>
                </a:ln>
                <a:solidFill>
                  <a:schemeClr val="tx1"/>
                </a:solidFill>
                <a:effectLst/>
                <a:latin typeface="Arial" panose="020B0604020202020204" pitchFamily="34" charset="0"/>
              </a:rPr>
              <a:t>Log Sourcing:</a:t>
            </a:r>
            <a:r>
              <a:rPr kumimoji="0" lang="en-US" altLang="en-US" sz="1800" b="0" i="0" u="none" strike="noStrike" cap="none" normalizeH="0" baseline="0" dirty="0">
                <a:ln>
                  <a:noFill/>
                </a:ln>
                <a:solidFill>
                  <a:schemeClr val="tx1"/>
                </a:solidFill>
                <a:effectLst/>
                <a:latin typeface="Arial" panose="020B0604020202020204" pitchFamily="34" charset="0"/>
              </a:rPr>
              <a:t> Microsoft Learn - Windows Security Audit Events.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SOC Methodology (MITRE ATT&amp;CK):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T1110:</a:t>
            </a:r>
            <a:r>
              <a:rPr kumimoji="0" lang="en-US" altLang="en-US" sz="1800" b="0" i="0" u="none" strike="noStrike" cap="none" normalizeH="0" baseline="0" dirty="0">
                <a:ln>
                  <a:noFill/>
                </a:ln>
                <a:solidFill>
                  <a:schemeClr val="tx1"/>
                </a:solidFill>
                <a:effectLst/>
                <a:latin typeface="Arial" panose="020B0604020202020204" pitchFamily="34" charset="0"/>
              </a:rPr>
              <a:t> Brute Force </a:t>
            </a:r>
            <a:r>
              <a:rPr kumimoji="0" lang="en-US" altLang="en-US" sz="1800" b="0" i="1" u="none" strike="noStrike" cap="none" normalizeH="0" baseline="0" dirty="0">
                <a:ln>
                  <a:noFill/>
                </a:ln>
                <a:solidFill>
                  <a:schemeClr val="tx1"/>
                </a:solidFill>
                <a:effectLst/>
                <a:latin typeface="Arial" panose="020B0604020202020204" pitchFamily="34" charset="0"/>
              </a:rPr>
              <a:t>(Covers Phase 1: Failed and Successful Logons)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T1136.001:</a:t>
            </a:r>
            <a:r>
              <a:rPr kumimoji="0" lang="en-US" altLang="en-US" sz="1800" b="0" i="0" u="none" strike="noStrike" cap="none" normalizeH="0" baseline="0" dirty="0">
                <a:ln>
                  <a:noFill/>
                </a:ln>
                <a:solidFill>
                  <a:schemeClr val="tx1"/>
                </a:solidFill>
                <a:effectLst/>
                <a:latin typeface="Arial" panose="020B0604020202020204" pitchFamily="34" charset="0"/>
              </a:rPr>
              <a:t> Create Account: Local Account </a:t>
            </a:r>
            <a:r>
              <a:rPr kumimoji="0" lang="en-US" altLang="en-US" sz="1800" b="0" i="1" u="none" strike="noStrike" cap="none" normalizeH="0" baseline="0" dirty="0">
                <a:ln>
                  <a:noFill/>
                </a:ln>
                <a:solidFill>
                  <a:schemeClr val="tx1"/>
                </a:solidFill>
                <a:effectLst/>
                <a:latin typeface="Arial" panose="020B0604020202020204" pitchFamily="34" charset="0"/>
              </a:rPr>
              <a:t>(Covers Phase 2: Persistence)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T1098:</a:t>
            </a:r>
            <a:r>
              <a:rPr kumimoji="0" lang="en-US" altLang="en-US" sz="1800" b="0" i="0" u="none" strike="noStrike" cap="none" normalizeH="0" baseline="0" dirty="0">
                <a:ln>
                  <a:noFill/>
                </a:ln>
                <a:solidFill>
                  <a:schemeClr val="tx1"/>
                </a:solidFill>
                <a:effectLst/>
                <a:latin typeface="Arial" panose="020B0604020202020204" pitchFamily="34" charset="0"/>
              </a:rPr>
              <a:t> Account Manipulation </a:t>
            </a:r>
            <a:r>
              <a:rPr kumimoji="0" lang="en-US" altLang="en-US" sz="1800" b="0" i="1" u="none" strike="noStrike" cap="none" normalizeH="0" baseline="0" dirty="0">
                <a:ln>
                  <a:noFill/>
                </a:ln>
                <a:solidFill>
                  <a:schemeClr val="tx1"/>
                </a:solidFill>
                <a:effectLst/>
                <a:latin typeface="Arial" panose="020B0604020202020204" pitchFamily="34" charset="0"/>
              </a:rPr>
              <a:t>(Covers Phase 2: Privilege Escalation to Admin)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T1059.001:</a:t>
            </a:r>
            <a:r>
              <a:rPr kumimoji="0" lang="en-US" altLang="en-US" sz="1800" b="0" i="0" u="none" strike="noStrike" cap="none" normalizeH="0" baseline="0" dirty="0">
                <a:ln>
                  <a:noFill/>
                </a:ln>
                <a:solidFill>
                  <a:schemeClr val="tx1"/>
                </a:solidFill>
                <a:effectLst/>
                <a:latin typeface="Arial" panose="020B0604020202020204" pitchFamily="34" charset="0"/>
              </a:rPr>
              <a:t> Command and Scripting Interpreter: PowerShell </a:t>
            </a:r>
            <a:r>
              <a:rPr kumimoji="0" lang="en-US" altLang="en-US" sz="1800" b="0" i="1" u="none" strike="noStrike" cap="none" normalizeH="0" baseline="0" dirty="0">
                <a:ln>
                  <a:noFill/>
                </a:ln>
                <a:solidFill>
                  <a:schemeClr val="tx1"/>
                </a:solidFill>
                <a:effectLst/>
                <a:latin typeface="Arial" panose="020B0604020202020204" pitchFamily="34" charset="0"/>
              </a:rPr>
              <a:t>(Covers Phase 3: Execution)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T1562.001:</a:t>
            </a:r>
            <a:r>
              <a:rPr kumimoji="0" lang="en-US" altLang="en-US" sz="1800" b="0" i="0" u="none" strike="noStrike" cap="none" normalizeH="0" baseline="0" dirty="0">
                <a:ln>
                  <a:noFill/>
                </a:ln>
                <a:solidFill>
                  <a:schemeClr val="tx1"/>
                </a:solidFill>
                <a:effectLst/>
                <a:latin typeface="Arial" panose="020B0604020202020204" pitchFamily="34" charset="0"/>
              </a:rPr>
              <a:t> Impair Defenses: Disable or Modify Tools </a:t>
            </a:r>
            <a:r>
              <a:rPr kumimoji="0" lang="en-US" altLang="en-US" sz="1800" b="0" i="1" u="none" strike="noStrike" cap="none" normalizeH="0" baseline="0" dirty="0">
                <a:ln>
                  <a:noFill/>
                </a:ln>
                <a:solidFill>
                  <a:schemeClr val="tx1"/>
                </a:solidFill>
                <a:effectLst/>
                <a:latin typeface="Arial" panose="020B0604020202020204" pitchFamily="34" charset="0"/>
              </a:rPr>
              <a:t>(Covers Phase 3: Defense Evasion)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T1565.001:</a:t>
            </a:r>
            <a:r>
              <a:rPr kumimoji="0" lang="en-US" altLang="en-US" sz="1800" b="0" i="0" u="none" strike="noStrike" cap="none" normalizeH="0" baseline="0" dirty="0">
                <a:ln>
                  <a:noFill/>
                </a:ln>
                <a:solidFill>
                  <a:schemeClr val="tx1"/>
                </a:solidFill>
                <a:effectLst/>
                <a:latin typeface="Arial" panose="020B0604020202020204" pitchFamily="34" charset="0"/>
              </a:rPr>
              <a:t> Data Manipulation: Stored Data Manipulation </a:t>
            </a:r>
            <a:r>
              <a:rPr kumimoji="0" lang="en-US" altLang="en-US" sz="1800" b="0" i="1" u="none" strike="noStrike" cap="none" normalizeH="0" baseline="0" dirty="0">
                <a:ln>
                  <a:noFill/>
                </a:ln>
                <a:solidFill>
                  <a:schemeClr val="tx1"/>
                </a:solidFill>
                <a:effectLst/>
                <a:latin typeface="Arial" panose="020B0604020202020204" pitchFamily="34" charset="0"/>
              </a:rPr>
              <a:t>(Covers Phase 4: FIM / File Modifying)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085303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7125</TotalTime>
  <Words>1395</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Courier New</vt:lpstr>
      <vt:lpstr>BIA Template</vt:lpstr>
      <vt:lpstr>PowerPoint Presentation</vt:lpstr>
      <vt:lpstr>Agenda</vt:lpstr>
      <vt:lpstr>Abstract &amp; Project Goal</vt:lpstr>
      <vt:lpstr>Attack Simulation Environment </vt:lpstr>
      <vt:lpstr>Investigation Flow</vt:lpstr>
      <vt:lpstr>SIEM Selection: Wazuh Deep Dive</vt:lpstr>
      <vt:lpstr>Log Data Collection Strategy</vt:lpstr>
      <vt:lpstr>Attack Phase 1: SMB Brute Force Detection</vt:lpstr>
      <vt:lpstr>PowerPoint Presentation</vt:lpstr>
      <vt:lpstr>Attack Phase 2: Privilege Escalation &amp; Persistence</vt:lpstr>
      <vt:lpstr>PowerPoint Presentation</vt:lpstr>
      <vt:lpstr>Attack Phase 3: Defense Evasion via PowerShell</vt:lpstr>
      <vt:lpstr>Attack Phase 4: File Integrity Monitoring (FIM)</vt:lpstr>
      <vt:lpstr>PowerPoint Presentation</vt:lpstr>
      <vt:lpstr>Impact Analysis</vt:lpstr>
      <vt:lpstr>Tuning &amp; False Positives</vt:lpstr>
      <vt:lpstr>Thoughts &amp; Project Conclusion</vt:lpstr>
      <vt:lpstr>References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Yash Kasbe</cp:lastModifiedBy>
  <cp:revision>2257</cp:revision>
  <dcterms:created xsi:type="dcterms:W3CDTF">2020-12-23T13:36:00Z</dcterms:created>
  <dcterms:modified xsi:type="dcterms:W3CDTF">2026-04-04T17:38:50Z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